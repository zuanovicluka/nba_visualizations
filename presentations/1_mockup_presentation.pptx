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1_6FA096D8.xml" ContentType="application/vnd.ms-powerpoint.comment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78F719-919F-E3F1-2C46-0EC500D726E7}" name="Luka Zuanovic" initials="LZ" userId="S::luka.zuanovic@ua.pt::25f85935-9e84-4d32-aa3d-6a40b92e9f8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726E5-E3B8-4899-BC32-299507C93740}" v="188" dt="2025-10-20T12:07:28.059"/>
    <p1510:client id="{908C6947-4AC5-013C-E94F-5314F2677027}" v="48" dt="2025-10-19T19:06:54.329"/>
    <p1510:client id="{9A5AE58A-3019-61E2-C57C-3A06323A5607}" v="15" dt="2025-10-19T19:04:49.120"/>
    <p1510:client id="{D68D906D-42C6-6753-BD9E-5A51290E784A}" v="209" dt="2025-10-19T18:25:56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Zuanović" userId="1d390c9c-2e7e-452a-af11-11727cc65367" providerId="ADAL" clId="{C78747B7-A0FA-4FB6-82A3-4E8F2D03FF44}"/>
    <pc:docChg chg="custSel modSld">
      <pc:chgData name="Luka Zuanović" userId="1d390c9c-2e7e-452a-af11-11727cc65367" providerId="ADAL" clId="{C78747B7-A0FA-4FB6-82A3-4E8F2D03FF44}" dt="2025-10-20T14:03:22.466" v="615" actId="20577"/>
      <pc:docMkLst>
        <pc:docMk/>
      </pc:docMkLst>
      <pc:sldChg chg="modSp mod">
        <pc:chgData name="Luka Zuanović" userId="1d390c9c-2e7e-452a-af11-11727cc65367" providerId="ADAL" clId="{C78747B7-A0FA-4FB6-82A3-4E8F2D03FF44}" dt="2025-10-20T14:03:22.466" v="615" actId="20577"/>
        <pc:sldMkLst>
          <pc:docMk/>
          <pc:sldMk cId="1872795352" sldId="257"/>
        </pc:sldMkLst>
        <pc:spChg chg="mod">
          <ac:chgData name="Luka Zuanović" userId="1d390c9c-2e7e-452a-af11-11727cc65367" providerId="ADAL" clId="{C78747B7-A0FA-4FB6-82A3-4E8F2D03FF44}" dt="2025-10-20T14:03:22.466" v="615" actId="20577"/>
          <ac:spMkLst>
            <pc:docMk/>
            <pc:sldMk cId="1872795352" sldId="257"/>
            <ac:spMk id="3" creationId="{8B840BEA-8A69-6665-1EF3-E40CE2E0546A}"/>
          </ac:spMkLst>
        </pc:spChg>
      </pc:sldChg>
      <pc:sldChg chg="addSp delSp modSp mod delAnim modAnim">
        <pc:chgData name="Luka Zuanović" userId="1d390c9c-2e7e-452a-af11-11727cc65367" providerId="ADAL" clId="{C78747B7-A0FA-4FB6-82A3-4E8F2D03FF44}" dt="2025-10-20T12:01:13.435" v="475" actId="1076"/>
        <pc:sldMkLst>
          <pc:docMk/>
          <pc:sldMk cId="2052448907" sldId="258"/>
        </pc:sldMkLst>
        <pc:spChg chg="add mod ord">
          <ac:chgData name="Luka Zuanović" userId="1d390c9c-2e7e-452a-af11-11727cc65367" providerId="ADAL" clId="{C78747B7-A0FA-4FB6-82A3-4E8F2D03FF44}" dt="2025-10-20T11:59:07.845" v="454" actId="14100"/>
          <ac:spMkLst>
            <pc:docMk/>
            <pc:sldMk cId="2052448907" sldId="258"/>
            <ac:spMk id="5" creationId="{2869A6DB-AACD-B4A7-DDDF-0C9B88A658EE}"/>
          </ac:spMkLst>
        </pc:spChg>
        <pc:spChg chg="add del mod">
          <ac:chgData name="Luka Zuanović" userId="1d390c9c-2e7e-452a-af11-11727cc65367" providerId="ADAL" clId="{C78747B7-A0FA-4FB6-82A3-4E8F2D03FF44}" dt="2025-10-20T11:57:47.733" v="434"/>
          <ac:spMkLst>
            <pc:docMk/>
            <pc:sldMk cId="2052448907" sldId="258"/>
            <ac:spMk id="7" creationId="{9C8ECE09-7258-3BE0-DD34-98E3E4E03AAB}"/>
          </ac:spMkLst>
        </pc:spChg>
        <pc:spChg chg="add del mod">
          <ac:chgData name="Luka Zuanović" userId="1d390c9c-2e7e-452a-af11-11727cc65367" providerId="ADAL" clId="{C78747B7-A0FA-4FB6-82A3-4E8F2D03FF44}" dt="2025-10-20T11:57:59.062" v="436"/>
          <ac:spMkLst>
            <pc:docMk/>
            <pc:sldMk cId="2052448907" sldId="258"/>
            <ac:spMk id="10" creationId="{BA62F084-8ED5-F4E4-2B5F-917522C4FDDD}"/>
          </ac:spMkLst>
        </pc:spChg>
        <pc:spChg chg="add del mod">
          <ac:chgData name="Luka Zuanović" userId="1d390c9c-2e7e-452a-af11-11727cc65367" providerId="ADAL" clId="{C78747B7-A0FA-4FB6-82A3-4E8F2D03FF44}" dt="2025-10-20T11:58:06.730" v="438"/>
          <ac:spMkLst>
            <pc:docMk/>
            <pc:sldMk cId="2052448907" sldId="258"/>
            <ac:spMk id="13" creationId="{AF02895F-ABFA-74FE-1B3F-91487C0AF049}"/>
          </ac:spMkLst>
        </pc:spChg>
        <pc:picChg chg="add del mod">
          <ac:chgData name="Luka Zuanović" userId="1d390c9c-2e7e-452a-af11-11727cc65367" providerId="ADAL" clId="{C78747B7-A0FA-4FB6-82A3-4E8F2D03FF44}" dt="2025-10-20T11:57:45.805" v="433" actId="21"/>
          <ac:picMkLst>
            <pc:docMk/>
            <pc:sldMk cId="2052448907" sldId="258"/>
            <ac:picMk id="3" creationId="{025CE521-F6DD-9EB2-9061-2FFF56A04EED}"/>
          </ac:picMkLst>
        </pc:picChg>
        <pc:picChg chg="del mod">
          <ac:chgData name="Luka Zuanović" userId="1d390c9c-2e7e-452a-af11-11727cc65367" providerId="ADAL" clId="{C78747B7-A0FA-4FB6-82A3-4E8F2D03FF44}" dt="2025-10-20T11:57:42.665" v="432" actId="21"/>
          <ac:picMkLst>
            <pc:docMk/>
            <pc:sldMk cId="2052448907" sldId="258"/>
            <ac:picMk id="4" creationId="{C28DF686-1EDC-A548-CBAD-F3A41D026945}"/>
          </ac:picMkLst>
        </pc:picChg>
        <pc:picChg chg="add del mod">
          <ac:chgData name="Luka Zuanović" userId="1d390c9c-2e7e-452a-af11-11727cc65367" providerId="ADAL" clId="{C78747B7-A0FA-4FB6-82A3-4E8F2D03FF44}" dt="2025-10-20T11:57:57.776" v="435" actId="21"/>
          <ac:picMkLst>
            <pc:docMk/>
            <pc:sldMk cId="2052448907" sldId="258"/>
            <ac:picMk id="8" creationId="{A3D0C30A-2927-FD87-6929-62F7DAB3B2B9}"/>
          </ac:picMkLst>
        </pc:picChg>
        <pc:picChg chg="add del mod">
          <ac:chgData name="Luka Zuanović" userId="1d390c9c-2e7e-452a-af11-11727cc65367" providerId="ADAL" clId="{C78747B7-A0FA-4FB6-82A3-4E8F2D03FF44}" dt="2025-10-20T11:58:01.321" v="437" actId="21"/>
          <ac:picMkLst>
            <pc:docMk/>
            <pc:sldMk cId="2052448907" sldId="258"/>
            <ac:picMk id="11" creationId="{91F9C084-7D19-ECB1-99A5-BD6A767D0069}"/>
          </ac:picMkLst>
        </pc:picChg>
        <pc:picChg chg="add mod">
          <ac:chgData name="Luka Zuanović" userId="1d390c9c-2e7e-452a-af11-11727cc65367" providerId="ADAL" clId="{C78747B7-A0FA-4FB6-82A3-4E8F2D03FF44}" dt="2025-10-20T12:00:32.057" v="468" actId="1076"/>
          <ac:picMkLst>
            <pc:docMk/>
            <pc:sldMk cId="2052448907" sldId="258"/>
            <ac:picMk id="14" creationId="{DB5972AA-615F-A9FA-0B52-C4BB448722F1}"/>
          </ac:picMkLst>
        </pc:picChg>
        <pc:picChg chg="add mod">
          <ac:chgData name="Luka Zuanović" userId="1d390c9c-2e7e-452a-af11-11727cc65367" providerId="ADAL" clId="{C78747B7-A0FA-4FB6-82A3-4E8F2D03FF44}" dt="2025-10-20T12:01:13.435" v="475" actId="1076"/>
          <ac:picMkLst>
            <pc:docMk/>
            <pc:sldMk cId="2052448907" sldId="258"/>
            <ac:picMk id="15" creationId="{3C546FB9-DEF2-78C2-5819-887ACE862F0F}"/>
          </ac:picMkLst>
        </pc:picChg>
      </pc:sldChg>
      <pc:sldChg chg="addSp delSp modSp mod delAnim modAnim">
        <pc:chgData name="Luka Zuanović" userId="1d390c9c-2e7e-452a-af11-11727cc65367" providerId="ADAL" clId="{C78747B7-A0FA-4FB6-82A3-4E8F2D03FF44}" dt="2025-10-20T12:09:06.381" v="551" actId="1036"/>
        <pc:sldMkLst>
          <pc:docMk/>
          <pc:sldMk cId="1133203939" sldId="259"/>
        </pc:sldMkLst>
        <pc:spChg chg="add del mod">
          <ac:chgData name="Luka Zuanović" userId="1d390c9c-2e7e-452a-af11-11727cc65367" providerId="ADAL" clId="{C78747B7-A0FA-4FB6-82A3-4E8F2D03FF44}" dt="2025-10-20T11:45:50.619" v="310"/>
          <ac:spMkLst>
            <pc:docMk/>
            <pc:sldMk cId="1133203939" sldId="259"/>
            <ac:spMk id="4" creationId="{20203FC1-2E17-121F-B1DA-069C8C5E5EDE}"/>
          </ac:spMkLst>
        </pc:spChg>
        <pc:spChg chg="add mod ord">
          <ac:chgData name="Luka Zuanović" userId="1d390c9c-2e7e-452a-af11-11727cc65367" providerId="ADAL" clId="{C78747B7-A0FA-4FB6-82A3-4E8F2D03FF44}" dt="2025-10-20T12:02:03.842" v="482" actId="170"/>
          <ac:spMkLst>
            <pc:docMk/>
            <pc:sldMk cId="1133203939" sldId="259"/>
            <ac:spMk id="5" creationId="{2561E9BD-BCE2-8B4B-4B87-19079223184B}"/>
          </ac:spMkLst>
        </pc:spChg>
        <pc:spChg chg="add mod">
          <ac:chgData name="Luka Zuanović" userId="1d390c9c-2e7e-452a-af11-11727cc65367" providerId="ADAL" clId="{C78747B7-A0FA-4FB6-82A3-4E8F2D03FF44}" dt="2025-10-20T12:01:35.154" v="477" actId="21"/>
          <ac:spMkLst>
            <pc:docMk/>
            <pc:sldMk cId="1133203939" sldId="259"/>
            <ac:spMk id="7" creationId="{D3F9943E-440F-6CDC-F06E-382B1A94E552}"/>
          </ac:spMkLst>
        </pc:spChg>
        <pc:picChg chg="add del mod">
          <ac:chgData name="Luka Zuanović" userId="1d390c9c-2e7e-452a-af11-11727cc65367" providerId="ADAL" clId="{C78747B7-A0FA-4FB6-82A3-4E8F2D03FF44}" dt="2025-10-20T12:01:33.208" v="476" actId="21"/>
          <ac:picMkLst>
            <pc:docMk/>
            <pc:sldMk cId="1133203939" sldId="259"/>
            <ac:picMk id="3" creationId="{B0CCE622-B0EC-FC46-98F6-1ACB2E05C46C}"/>
          </ac:picMkLst>
        </pc:picChg>
        <pc:picChg chg="add mod">
          <ac:chgData name="Luka Zuanović" userId="1d390c9c-2e7e-452a-af11-11727cc65367" providerId="ADAL" clId="{C78747B7-A0FA-4FB6-82A3-4E8F2D03FF44}" dt="2025-10-20T12:09:06.381" v="551" actId="1036"/>
          <ac:picMkLst>
            <pc:docMk/>
            <pc:sldMk cId="1133203939" sldId="259"/>
            <ac:picMk id="8" creationId="{736C0CC1-9937-9EDA-FE6C-5599C2B20E4C}"/>
          </ac:picMkLst>
        </pc:picChg>
        <pc:picChg chg="del">
          <ac:chgData name="Luka Zuanović" userId="1d390c9c-2e7e-452a-af11-11727cc65367" providerId="ADAL" clId="{C78747B7-A0FA-4FB6-82A3-4E8F2D03FF44}" dt="2025-10-20T12:01:35.154" v="477" actId="21"/>
          <ac:picMkLst>
            <pc:docMk/>
            <pc:sldMk cId="1133203939" sldId="259"/>
            <ac:picMk id="9" creationId="{D6AC4876-18DF-DB09-8BA8-9492BF3F3191}"/>
          </ac:picMkLst>
        </pc:picChg>
        <pc:picChg chg="add mod">
          <ac:chgData name="Luka Zuanović" userId="1d390c9c-2e7e-452a-af11-11727cc65367" providerId="ADAL" clId="{C78747B7-A0FA-4FB6-82A3-4E8F2D03FF44}" dt="2025-10-20T12:02:30.639" v="488" actId="1076"/>
          <ac:picMkLst>
            <pc:docMk/>
            <pc:sldMk cId="1133203939" sldId="259"/>
            <ac:picMk id="10" creationId="{C1D9AD57-264A-3C8E-7436-E7F887DED0A9}"/>
          </ac:picMkLst>
        </pc:picChg>
      </pc:sldChg>
      <pc:sldChg chg="addSp delSp modSp mod modAnim">
        <pc:chgData name="Luka Zuanović" userId="1d390c9c-2e7e-452a-af11-11727cc65367" providerId="ADAL" clId="{C78747B7-A0FA-4FB6-82A3-4E8F2D03FF44}" dt="2025-10-20T12:07:55.545" v="536" actId="14100"/>
        <pc:sldMkLst>
          <pc:docMk/>
          <pc:sldMk cId="4049340731" sldId="260"/>
        </pc:sldMkLst>
        <pc:spChg chg="add del mod">
          <ac:chgData name="Luka Zuanović" userId="1d390c9c-2e7e-452a-af11-11727cc65367" providerId="ADAL" clId="{C78747B7-A0FA-4FB6-82A3-4E8F2D03FF44}" dt="2025-10-20T12:03:26.340" v="494"/>
          <ac:spMkLst>
            <pc:docMk/>
            <pc:sldMk cId="4049340731" sldId="260"/>
            <ac:spMk id="4" creationId="{31551866-E7CA-D87B-D8EE-5F5E795DFDD6}"/>
          </ac:spMkLst>
        </pc:spChg>
        <pc:spChg chg="add mod">
          <ac:chgData name="Luka Zuanović" userId="1d390c9c-2e7e-452a-af11-11727cc65367" providerId="ADAL" clId="{C78747B7-A0FA-4FB6-82A3-4E8F2D03FF44}" dt="2025-10-20T12:07:28.059" v="535" actId="20577"/>
          <ac:spMkLst>
            <pc:docMk/>
            <pc:sldMk cId="4049340731" sldId="260"/>
            <ac:spMk id="8" creationId="{C2F4F130-E4D0-551A-15EA-4F3E7EEA7E2D}"/>
          </ac:spMkLst>
        </pc:spChg>
        <pc:picChg chg="del">
          <ac:chgData name="Luka Zuanović" userId="1d390c9c-2e7e-452a-af11-11727cc65367" providerId="ADAL" clId="{C78747B7-A0FA-4FB6-82A3-4E8F2D03FF44}" dt="2025-10-20T12:03:13.806" v="493" actId="21"/>
          <ac:picMkLst>
            <pc:docMk/>
            <pc:sldMk cId="4049340731" sldId="260"/>
            <ac:picMk id="5" creationId="{1236C2F9-C994-591E-0B64-0299805CBEC4}"/>
          </ac:picMkLst>
        </pc:picChg>
        <pc:picChg chg="add mod">
          <ac:chgData name="Luka Zuanović" userId="1d390c9c-2e7e-452a-af11-11727cc65367" providerId="ADAL" clId="{C78747B7-A0FA-4FB6-82A3-4E8F2D03FF44}" dt="2025-10-20T12:03:59.730" v="503" actId="1076"/>
          <ac:picMkLst>
            <pc:docMk/>
            <pc:sldMk cId="4049340731" sldId="260"/>
            <ac:picMk id="6" creationId="{0D5BC977-9BF0-71EA-7F71-B4971877CF24}"/>
          </ac:picMkLst>
        </pc:picChg>
        <pc:picChg chg="add mod">
          <ac:chgData name="Luka Zuanović" userId="1d390c9c-2e7e-452a-af11-11727cc65367" providerId="ADAL" clId="{C78747B7-A0FA-4FB6-82A3-4E8F2D03FF44}" dt="2025-10-20T12:07:55.545" v="536" actId="14100"/>
          <ac:picMkLst>
            <pc:docMk/>
            <pc:sldMk cId="4049340731" sldId="260"/>
            <ac:picMk id="7" creationId="{DB5F3715-CA1E-6E36-D49E-094D74F707FE}"/>
          </ac:picMkLst>
        </pc:picChg>
      </pc:sldChg>
    </pc:docChg>
  </pc:docChgLst>
</pc:chgInfo>
</file>

<file path=ppt/comments/modernComment_101_6FA096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C8EB66-D97C-4540-BA48-1D02B19282EE}" authorId="{8678F719-919F-E3F1-2C46-0EC500D726E7}" created="2025-10-19T17:33:25.677">
    <pc:sldMkLst xmlns:pc="http://schemas.microsoft.com/office/powerpoint/2013/main/command">
      <pc:docMk/>
      <pc:sldMk cId="1872795352" sldId="257"/>
    </pc:sldMkLst>
    <p188:txBody>
      <a:bodyPr/>
      <a:lstStyle/>
      <a:p>
        <a:r>
          <a:rPr lang="en-US"/>
          <a:t>1. The goal of our project is to build an interactive NBA data visualization system that helps users - especially basketball fans and sports bettors - better understand trends, performance metrics, and probabilities.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03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1188 24575,'0'30'0,"-1"-13"0,1 1 0,4 25 0,-3-37 0,0-1 0,0 1 0,1-1 0,0 1 0,0-1 0,0 0 0,1 0 0,0 0 0,0 0 0,0-1 0,7 9 0,-7-11 0,-2 0 0,0-1 0,0 1 0,0-1 0,0 1 0,1-1 0,-1 0 0,1 0 0,-1 0 0,1 0 0,-1 0 0,1 0 0,-1 0 0,1 0 0,0 0 0,2 0 0,-3-2 0,1 0 0,0 0 0,0 0 0,-1 0 0,1 0 0,-1-1 0,1 1 0,-1 0 0,1-1 0,-1 1 0,0-1 0,0 1 0,0-1 0,0 0 0,0 0 0,0 1 0,0-1 0,0-2 0,67-132 0,10-18 0,144-177 0,28 17 0,46-61 0,-264 337-1365,-20 28-5461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07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1142 24575,'17'44'0,"10"42"0,70 194 0,-96-279 0,-1 0 0,1 0 0,0 0 0,-1 0 0,1 0 0,0 0 0,0 0 0,0 0 0,0-1 0,0 1 0,0 0 0,0 0 0,0-1 0,0 1 0,0-1 0,0 1 0,0-1 0,0 1 0,0-1 0,0 0 0,1 1 0,-1-1 0,0 0 0,0 0 0,1 0 0,-1 0 0,0 0 0,0 0 0,0 0 0,1 0 0,-1-1 0,0 1 0,0 0 0,0-1 0,2 0 0,7-3 0,1-1 0,-2 1 0,14-9 0,-12 6 0,321-220 36,-9-36-389,-264 214 110,931-793-3366,-822 692-413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15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0 410 24575,'1'9'0,"0"0"0,1 0 0,0 0 0,1 0 0,6 15 0,3 14 0,-10-30 0,8 30 0,-2 0 0,-1 1 0,2 55 0,-7-55 0,8 45 0,-3-34 0,0-32 0,-7-18 0,0 0 0,1 0 0,-1 0 0,0 1 0,1-1 0,-1 0 0,0 0 0,1 0 0,-1 0 0,0 0 0,1 1 0,-1-1 0,0 0 0,1 0 0,-1 0 0,1 0 0,-1 0 0,0 0 0,1-1 0,-1 1 0,0 0 0,1 0 0,-1 0 0,1 0 0,-1 0 0,0 0 0,1-1 0,-1 1 0,4-3 0,-1 1 0,0-1 0,0 0 0,0 0 0,-1-1 0,1 1 0,3-7 0,35-60 0,55-134 0,-66 135 0,129-302-1365,-85 192-5461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41:03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0 853 24575,'4'5'0,"-1"1"0,0-1 0,-1 0 0,1 1 0,-1 0 0,0 0 0,0 0 0,1 8 0,5 14 0,15 33 0,-3-12 0,-3 0 0,20 88 0,-37-136 0,0 1 0,0 0 0,0-1 0,1 1 0,-1-1 0,0 1 0,1-1 0,0 1 0,-1-1 0,1 0 0,0 1 0,-1-1 0,1 0 0,0 1 0,0-1 0,0 0 0,0 0 0,0 0 0,1 0 0,1 2 0,-2-3 0,0 0 0,0 0 0,0 0 0,0 0 0,0 0 0,0 0 0,1 0 0,-1 0 0,0 0 0,0 0 0,0-1 0,0 1 0,0-1 0,0 1 0,0 0 0,0-1 0,0 0 0,0 1 0,0-1 0,0 0 0,1 0 0,6-6 0,-1-1 0,1 0 0,-1 0 0,9-15 0,25-46 0,-2-1 0,33-88 0,-40 85 0,246-604 0,-239 544-1365,-34 108-5461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39599A-F55A-43CD-BD42-27C7A89EA2FB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DE8A-0D1C-4207-9305-34D1513655E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6239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ADE8A-0D1C-4207-9305-34D1513655E1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53672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Uredite stil podnaslova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5679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39703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odjelj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8821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3178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4807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1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37950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7856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1209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20972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7600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71FB43-724D-437A-A5E8-1D673BA80D2D}" type="datetimeFigureOut">
              <a:rPr lang="hr-HR" smtClean="0"/>
              <a:t>19.11.2025.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8525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6FA096D8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305 Dark Basketball Court Stock Videos, Footage, &amp; 4K Video Clips - Getty  Images | Dark basketball court no people">
            <a:extLst>
              <a:ext uri="{FF2B5EF4-FFF2-40B4-BE49-F238E27FC236}">
                <a16:creationId xmlns:a16="http://schemas.microsoft.com/office/drawing/2014/main" id="{DF1839B8-75EA-13CE-CE86-484BF52DA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458585" y="2785410"/>
            <a:ext cx="10058400" cy="99742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hr-HR" sz="5200">
                <a:solidFill>
                  <a:srgbClr val="FFFFFF"/>
                </a:solidFill>
                <a:ea typeface="+mj-lt"/>
                <a:cs typeface="+mj-lt"/>
              </a:rPr>
              <a:t>NBA </a:t>
            </a:r>
            <a:r>
              <a:rPr lang="hr-HR" sz="5200" err="1">
                <a:solidFill>
                  <a:srgbClr val="FFFFFF"/>
                </a:solidFill>
                <a:ea typeface="+mj-lt"/>
                <a:cs typeface="+mj-lt"/>
              </a:rPr>
              <a:t>betting</a:t>
            </a:r>
            <a:r>
              <a:rPr lang="hr-HR" sz="520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hr-HR" sz="5200" err="1">
                <a:solidFill>
                  <a:srgbClr val="FFFFFF"/>
                </a:solidFill>
                <a:ea typeface="+mj-lt"/>
                <a:cs typeface="+mj-lt"/>
              </a:rPr>
              <a:t>insights</a:t>
            </a:r>
            <a:endParaRPr lang="en-US" err="1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3229168" y="4240131"/>
            <a:ext cx="10058400" cy="187661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hr-HR" sz="2000" b="1" err="1">
                <a:solidFill>
                  <a:schemeClr val="bg1"/>
                </a:solidFill>
              </a:rPr>
              <a:t>Presented</a:t>
            </a:r>
            <a:r>
              <a:rPr lang="hr-HR" sz="2000" b="1">
                <a:solidFill>
                  <a:schemeClr val="bg1"/>
                </a:solidFill>
              </a:rPr>
              <a:t> </a:t>
            </a:r>
            <a:r>
              <a:rPr lang="hr-HR" sz="2000" b="1" err="1">
                <a:solidFill>
                  <a:schemeClr val="bg1"/>
                </a:solidFill>
              </a:rPr>
              <a:t>by</a:t>
            </a:r>
            <a:r>
              <a:rPr lang="hr-HR" sz="2000" b="1">
                <a:solidFill>
                  <a:schemeClr val="bg1"/>
                </a:solidFill>
              </a:rPr>
              <a:t>: </a:t>
            </a:r>
            <a:r>
              <a:rPr lang="hr-HR" sz="2000">
                <a:solidFill>
                  <a:schemeClr val="bg1"/>
                </a:solidFill>
              </a:rPr>
              <a:t>Luka </a:t>
            </a:r>
            <a:r>
              <a:rPr lang="hr-HR" sz="2000" err="1">
                <a:solidFill>
                  <a:schemeClr val="bg1"/>
                </a:solidFill>
              </a:rPr>
              <a:t>Zuanović</a:t>
            </a:r>
            <a:r>
              <a:rPr lang="hr-HR" sz="2000">
                <a:solidFill>
                  <a:schemeClr val="bg1"/>
                </a:solidFill>
              </a:rPr>
              <a:t> (130275) Computer </a:t>
            </a:r>
            <a:r>
              <a:rPr lang="hr-HR" sz="2000" err="1">
                <a:solidFill>
                  <a:schemeClr val="bg1"/>
                </a:solidFill>
              </a:rPr>
              <a:t>Engineering</a:t>
            </a:r>
            <a:endParaRPr lang="en-US" sz="2000">
              <a:solidFill>
                <a:schemeClr val="bg1"/>
              </a:solidFill>
            </a:endParaRPr>
          </a:p>
          <a:p>
            <a:pPr algn="l"/>
            <a:r>
              <a:rPr lang="hr-HR" sz="2000">
                <a:solidFill>
                  <a:schemeClr val="bg1"/>
                </a:solidFill>
              </a:rPr>
              <a:t>                               Marko Pongrac (130288) Data Science</a:t>
            </a:r>
          </a:p>
          <a:p>
            <a:pPr algn="l"/>
            <a:r>
              <a:rPr lang="hr-HR" sz="2000" b="1" err="1">
                <a:solidFill>
                  <a:schemeClr val="bg1"/>
                </a:solidFill>
              </a:rPr>
              <a:t>Course</a:t>
            </a:r>
            <a:r>
              <a:rPr lang="hr-HR" sz="2000" b="1">
                <a:solidFill>
                  <a:schemeClr val="bg1"/>
                </a:solidFill>
              </a:rPr>
              <a:t>:</a:t>
            </a:r>
            <a:r>
              <a:rPr lang="hr-HR" sz="2000">
                <a:solidFill>
                  <a:schemeClr val="bg1"/>
                </a:solidFill>
              </a:rPr>
              <a:t> </a:t>
            </a:r>
            <a:r>
              <a:rPr lang="hr-HR" sz="2000" err="1">
                <a:solidFill>
                  <a:schemeClr val="bg1"/>
                </a:solidFill>
              </a:rPr>
              <a:t>Information</a:t>
            </a:r>
            <a:r>
              <a:rPr lang="hr-HR" sz="2000">
                <a:solidFill>
                  <a:schemeClr val="bg1"/>
                </a:solidFill>
              </a:rPr>
              <a:t> </a:t>
            </a:r>
            <a:r>
              <a:rPr lang="hr-HR" sz="2000" err="1">
                <a:solidFill>
                  <a:schemeClr val="bg1"/>
                </a:solidFill>
              </a:rPr>
              <a:t>Visualization</a:t>
            </a:r>
            <a:r>
              <a:rPr lang="hr-HR" sz="2000">
                <a:solidFill>
                  <a:schemeClr val="bg1"/>
                </a:solidFill>
              </a:rPr>
              <a:t> </a:t>
            </a:r>
          </a:p>
          <a:p>
            <a:pPr algn="l"/>
            <a:r>
              <a:rPr lang="hr-HR" sz="2000" b="1">
                <a:solidFill>
                  <a:schemeClr val="bg1"/>
                </a:solidFill>
              </a:rPr>
              <a:t>Date:</a:t>
            </a:r>
            <a:r>
              <a:rPr lang="hr-HR" sz="2000">
                <a:solidFill>
                  <a:schemeClr val="bg1"/>
                </a:solidFill>
              </a:rPr>
              <a:t> 20.10.2025.</a:t>
            </a:r>
          </a:p>
          <a:p>
            <a:endParaRPr lang="hr-HR" sz="2000">
              <a:solidFill>
                <a:schemeClr val="bg1"/>
              </a:solidFill>
            </a:endParaRPr>
          </a:p>
        </p:txBody>
      </p:sp>
      <p:pic>
        <p:nvPicPr>
          <p:cNvPr id="5" name="Picture 4" descr="NBA Logo PNG Transparent &amp; SVG Vector - Freebie Supply">
            <a:extLst>
              <a:ext uri="{FF2B5EF4-FFF2-40B4-BE49-F238E27FC236}">
                <a16:creationId xmlns:a16="http://schemas.microsoft.com/office/drawing/2014/main" id="{5F6151BA-9AFB-7B61-4C35-DF60467D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340" y="441341"/>
            <a:ext cx="1144025" cy="254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7E55-5C55-6AF9-D85D-A898860EA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376" y="275478"/>
            <a:ext cx="10515600" cy="132556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🏀  Project goal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40BEA-8A69-6665-1EF3-E40CE2E05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3566"/>
            <a:ext cx="10515600" cy="476595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To build an interactive </a:t>
            </a:r>
            <a:r>
              <a:rPr lang="en-US" b="1" dirty="0">
                <a:ea typeface="+mn-lt"/>
                <a:cs typeface="+mn-lt"/>
              </a:rPr>
              <a:t>NBA data visualization system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based</a:t>
            </a:r>
            <a:r>
              <a:rPr lang="hr-HR" dirty="0">
                <a:ea typeface="+mn-lt"/>
                <a:cs typeface="+mn-lt"/>
              </a:rPr>
              <a:t> on </a:t>
            </a:r>
            <a:r>
              <a:rPr lang="hr-HR" dirty="0" err="1">
                <a:ea typeface="+mn-lt"/>
                <a:cs typeface="+mn-lt"/>
              </a:rPr>
              <a:t>the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official</a:t>
            </a:r>
            <a:r>
              <a:rPr lang="hr-HR" dirty="0">
                <a:ea typeface="+mn-lt"/>
                <a:cs typeface="+mn-lt"/>
              </a:rPr>
              <a:t> NBA </a:t>
            </a:r>
            <a:r>
              <a:rPr lang="hr-HR" dirty="0" err="1">
                <a:ea typeface="+mn-lt"/>
                <a:cs typeface="+mn-lt"/>
              </a:rPr>
              <a:t>dataset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from</a:t>
            </a:r>
            <a:r>
              <a:rPr lang="hr-HR" dirty="0">
                <a:ea typeface="+mn-lt"/>
                <a:cs typeface="+mn-lt"/>
              </a:rPr>
              <a:t> 1947. - </a:t>
            </a:r>
            <a:r>
              <a:rPr lang="hr-HR" dirty="0" err="1">
                <a:ea typeface="+mn-lt"/>
                <a:cs typeface="+mn-lt"/>
              </a:rPr>
              <a:t>today</a:t>
            </a:r>
            <a:endParaRPr lang="en-US" dirty="0"/>
          </a:p>
          <a:p>
            <a:pPr marL="0" indent="0">
              <a:buNone/>
            </a:pPr>
            <a:endParaRPr lang="en-US" b="1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Empower </a:t>
            </a:r>
            <a:r>
              <a:rPr lang="en-US" b="1" dirty="0">
                <a:ea typeface="+mn-lt"/>
                <a:cs typeface="+mn-lt"/>
              </a:rPr>
              <a:t>basketball fans and sports bettors</a:t>
            </a:r>
            <a:r>
              <a:rPr lang="en-US" dirty="0">
                <a:ea typeface="+mn-lt"/>
                <a:cs typeface="+mn-lt"/>
              </a:rPr>
              <a:t> with actionable insights</a:t>
            </a:r>
            <a:endParaRPr lang="en-US" b="1" dirty="0"/>
          </a:p>
          <a:p>
            <a:endParaRPr lang="en-US" b="1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Through dynamic and customizable </a:t>
            </a:r>
            <a:r>
              <a:rPr lang="en-US" b="1" dirty="0">
                <a:ea typeface="+mn-lt"/>
                <a:cs typeface="+mn-lt"/>
              </a:rPr>
              <a:t>visualizations</a:t>
            </a:r>
            <a:r>
              <a:rPr lang="en-US" dirty="0">
                <a:ea typeface="+mn-lt"/>
                <a:cs typeface="+mn-lt"/>
              </a:rPr>
              <a:t>, users will be able to: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Filter data by players, teams, seasons and statistics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Compare historical and current performance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Identify patterns that support smarter betting decisions</a:t>
            </a:r>
            <a:endParaRPr lang="en-US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27953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E7923-70E3-BE6F-3F95-9F4EC316F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553" y="73772"/>
            <a:ext cx="10515600" cy="1325563"/>
          </a:xfrm>
        </p:spPr>
        <p:txBody>
          <a:bodyPr/>
          <a:lstStyle/>
          <a:p>
            <a:pPr marL="742950" indent="-742950">
              <a:buAutoNum type="arabicPeriod"/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Graph: team points trend</a:t>
            </a:r>
          </a:p>
        </p:txBody>
      </p:sp>
      <p:pic>
        <p:nvPicPr>
          <p:cNvPr id="14" name="Rezervirano mjesto sadržaja 13">
            <a:extLst>
              <a:ext uri="{FF2B5EF4-FFF2-40B4-BE49-F238E27FC236}">
                <a16:creationId xmlns:a16="http://schemas.microsoft.com/office/drawing/2014/main" id="{DB5972AA-615F-A9FA-0B52-C4BB44872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0067" y="1068473"/>
            <a:ext cx="10851865" cy="5526880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2869A6DB-AACD-B4A7-DDDF-0C9B88A658EE}"/>
              </a:ext>
            </a:extLst>
          </p:cNvPr>
          <p:cNvSpPr txBox="1"/>
          <p:nvPr/>
        </p:nvSpPr>
        <p:spPr>
          <a:xfrm>
            <a:off x="591289" y="5038274"/>
            <a:ext cx="7395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hr-HR" dirty="0" err="1"/>
              <a:t>Which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scored</a:t>
            </a:r>
            <a:r>
              <a:rPr lang="hr-HR" dirty="0"/>
              <a:t> more </a:t>
            </a:r>
            <a:r>
              <a:rPr lang="hr-HR" dirty="0" err="1"/>
              <a:t>points</a:t>
            </a:r>
            <a:r>
              <a:rPr lang="hr-HR" dirty="0"/>
              <a:t> on 21.4.2018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second</a:t>
            </a:r>
            <a:r>
              <a:rPr lang="hr-HR" dirty="0"/>
              <a:t> </a:t>
            </a:r>
            <a:r>
              <a:rPr lang="hr-HR" dirty="0" err="1"/>
              <a:t>quarter</a:t>
            </a:r>
            <a:r>
              <a:rPr lang="hr-HR" dirty="0"/>
              <a:t>?</a:t>
            </a:r>
          </a:p>
          <a:p>
            <a:pPr marL="342900" indent="-342900">
              <a:buAutoNum type="arabicPeriod"/>
            </a:pPr>
            <a:r>
              <a:rPr lang="hr-HR" dirty="0"/>
              <a:t>How </a:t>
            </a:r>
            <a:r>
              <a:rPr lang="hr-HR" dirty="0" err="1"/>
              <a:t>many</a:t>
            </a:r>
            <a:r>
              <a:rPr lang="hr-HR" dirty="0"/>
              <a:t> </a:t>
            </a:r>
            <a:r>
              <a:rPr lang="hr-HR" dirty="0" err="1"/>
              <a:t>times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last</a:t>
            </a:r>
            <a:r>
              <a:rPr lang="hr-HR" dirty="0"/>
              <a:t> 10 </a:t>
            </a:r>
            <a:r>
              <a:rPr lang="hr-HR" dirty="0" err="1"/>
              <a:t>matches</a:t>
            </a:r>
            <a:r>
              <a:rPr lang="hr-HR" dirty="0"/>
              <a:t> </a:t>
            </a:r>
            <a:r>
              <a:rPr lang="hr-HR" dirty="0" err="1"/>
              <a:t>between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A </a:t>
            </a:r>
            <a:r>
              <a:rPr lang="hr-HR" dirty="0" err="1"/>
              <a:t>and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B </a:t>
            </a:r>
            <a:r>
              <a:rPr lang="hr-HR" dirty="0" err="1"/>
              <a:t>was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sum</a:t>
            </a:r>
            <a:r>
              <a:rPr lang="hr-HR" dirty="0"/>
              <a:t> </a:t>
            </a:r>
            <a:r>
              <a:rPr lang="hr-HR" dirty="0" err="1"/>
              <a:t>of</a:t>
            </a:r>
            <a:r>
              <a:rPr lang="hr-HR" dirty="0"/>
              <a:t> </a:t>
            </a:r>
            <a:r>
              <a:rPr lang="hr-HR" dirty="0" err="1"/>
              <a:t>points</a:t>
            </a:r>
            <a:r>
              <a:rPr lang="hr-HR" dirty="0"/>
              <a:t> </a:t>
            </a:r>
            <a:r>
              <a:rPr lang="hr-HR" dirty="0" err="1"/>
              <a:t>higher</a:t>
            </a:r>
            <a:r>
              <a:rPr lang="hr-HR" dirty="0"/>
              <a:t> </a:t>
            </a:r>
            <a:r>
              <a:rPr lang="hr-HR" dirty="0" err="1"/>
              <a:t>than</a:t>
            </a:r>
            <a:r>
              <a:rPr lang="hr-HR" dirty="0"/>
              <a:t> 240 </a:t>
            </a:r>
            <a:r>
              <a:rPr lang="hr-HR" dirty="0" err="1"/>
              <a:t>points</a:t>
            </a:r>
            <a:r>
              <a:rPr lang="hr-HR" dirty="0"/>
              <a:t>?</a:t>
            </a:r>
          </a:p>
        </p:txBody>
      </p:sp>
      <p:pic>
        <p:nvPicPr>
          <p:cNvPr id="15" name="Slika 14">
            <a:extLst>
              <a:ext uri="{FF2B5EF4-FFF2-40B4-BE49-F238E27FC236}">
                <a16:creationId xmlns:a16="http://schemas.microsoft.com/office/drawing/2014/main" id="{3C546FB9-DEF2-78C2-5819-887ACE86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89" y="1068473"/>
            <a:ext cx="7792408" cy="39698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Rukopis 2">
                <a:extLst>
                  <a:ext uri="{FF2B5EF4-FFF2-40B4-BE49-F238E27FC236}">
                    <a16:creationId xmlns:a16="http://schemas.microsoft.com/office/drawing/2014/main" id="{08DBEE57-2B5C-895C-719C-206A54125DA9}"/>
                  </a:ext>
                </a:extLst>
              </p14:cNvPr>
              <p14:cNvContentPartPr/>
              <p14:nvPr/>
            </p14:nvContentPartPr>
            <p14:xfrm>
              <a:off x="1728720" y="4083120"/>
              <a:ext cx="377640" cy="499680"/>
            </p14:xfrm>
          </p:contentPart>
        </mc:Choice>
        <mc:Fallback xmlns="">
          <p:pic>
            <p:nvPicPr>
              <p:cNvPr id="3" name="Rukopis 2">
                <a:extLst>
                  <a:ext uri="{FF2B5EF4-FFF2-40B4-BE49-F238E27FC236}">
                    <a16:creationId xmlns:a16="http://schemas.microsoft.com/office/drawing/2014/main" id="{08DBEE57-2B5C-895C-719C-206A54125DA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20080" y="4074120"/>
                <a:ext cx="39528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Rukopis 3">
                <a:extLst>
                  <a:ext uri="{FF2B5EF4-FFF2-40B4-BE49-F238E27FC236}">
                    <a16:creationId xmlns:a16="http://schemas.microsoft.com/office/drawing/2014/main" id="{BCFB1BA7-463E-FDEA-0BCA-B2938E318B23}"/>
                  </a:ext>
                </a:extLst>
              </p14:cNvPr>
              <p14:cNvContentPartPr/>
              <p14:nvPr/>
            </p14:nvContentPartPr>
            <p14:xfrm>
              <a:off x="1341000" y="1996560"/>
              <a:ext cx="761760" cy="564840"/>
            </p14:xfrm>
          </p:contentPart>
        </mc:Choice>
        <mc:Fallback xmlns="">
          <p:pic>
            <p:nvPicPr>
              <p:cNvPr id="4" name="Rukopis 3">
                <a:extLst>
                  <a:ext uri="{FF2B5EF4-FFF2-40B4-BE49-F238E27FC236}">
                    <a16:creationId xmlns:a16="http://schemas.microsoft.com/office/drawing/2014/main" id="{BCFB1BA7-463E-FDEA-0BCA-B2938E318B2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32000" y="1987920"/>
                <a:ext cx="779400" cy="58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Rukopis 5">
                <a:extLst>
                  <a:ext uri="{FF2B5EF4-FFF2-40B4-BE49-F238E27FC236}">
                    <a16:creationId xmlns:a16="http://schemas.microsoft.com/office/drawing/2014/main" id="{3AFB62BE-8A19-7111-FF40-FD6661DD6081}"/>
                  </a:ext>
                </a:extLst>
              </p14:cNvPr>
              <p14:cNvContentPartPr/>
              <p14:nvPr/>
            </p14:nvContentPartPr>
            <p14:xfrm>
              <a:off x="1508400" y="3258360"/>
              <a:ext cx="190800" cy="333720"/>
            </p14:xfrm>
          </p:contentPart>
        </mc:Choice>
        <mc:Fallback xmlns="">
          <p:pic>
            <p:nvPicPr>
              <p:cNvPr id="6" name="Rukopis 5">
                <a:extLst>
                  <a:ext uri="{FF2B5EF4-FFF2-40B4-BE49-F238E27FC236}">
                    <a16:creationId xmlns:a16="http://schemas.microsoft.com/office/drawing/2014/main" id="{3AFB62BE-8A19-7111-FF40-FD6661DD608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499400" y="3249720"/>
                <a:ext cx="20844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Rukopis 6">
                <a:extLst>
                  <a:ext uri="{FF2B5EF4-FFF2-40B4-BE49-F238E27FC236}">
                    <a16:creationId xmlns:a16="http://schemas.microsoft.com/office/drawing/2014/main" id="{7616EFFA-7C57-BD96-0B80-ECDDEC38E07A}"/>
                  </a:ext>
                </a:extLst>
              </p14:cNvPr>
              <p14:cNvContentPartPr/>
              <p14:nvPr/>
            </p14:nvContentPartPr>
            <p14:xfrm>
              <a:off x="1317960" y="1186200"/>
              <a:ext cx="259920" cy="456120"/>
            </p14:xfrm>
          </p:contentPart>
        </mc:Choice>
        <mc:Fallback xmlns="">
          <p:pic>
            <p:nvPicPr>
              <p:cNvPr id="7" name="Rukopis 6">
                <a:extLst>
                  <a:ext uri="{FF2B5EF4-FFF2-40B4-BE49-F238E27FC236}">
                    <a16:creationId xmlns:a16="http://schemas.microsoft.com/office/drawing/2014/main" id="{7616EFFA-7C57-BD96-0B80-ECDDEC38E07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08960" y="1177200"/>
                <a:ext cx="277560" cy="47376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kstniOkvir 7">
            <a:extLst>
              <a:ext uri="{FF2B5EF4-FFF2-40B4-BE49-F238E27FC236}">
                <a16:creationId xmlns:a16="http://schemas.microsoft.com/office/drawing/2014/main" id="{CC9F95BF-A3CF-5AB1-97D4-290FB7A53B70}"/>
              </a:ext>
            </a:extLst>
          </p:cNvPr>
          <p:cNvSpPr txBox="1"/>
          <p:nvPr/>
        </p:nvSpPr>
        <p:spPr>
          <a:xfrm>
            <a:off x="289560" y="4610624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DODAJ FILTER ZA STATISTIKU, u smislu sta ide na y os</a:t>
            </a:r>
          </a:p>
        </p:txBody>
      </p:sp>
    </p:spTree>
    <p:extLst>
      <p:ext uri="{BB962C8B-B14F-4D97-AF65-F5344CB8AC3E}">
        <p14:creationId xmlns:p14="http://schemas.microsoft.com/office/powerpoint/2010/main" val="205244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23445-A650-3C3F-D74B-72BB5E3E6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553" y="387537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2.  Graph: player statistics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D3F9943E-440F-6CDC-F06E-382B1A94E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736C0CC1-9937-9EDA-FE6C-5599C2B20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63842"/>
            <a:ext cx="9842770" cy="5775019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2561E9BD-BCE2-8B4B-4B87-19079223184B}"/>
              </a:ext>
            </a:extLst>
          </p:cNvPr>
          <p:cNvSpPr txBox="1"/>
          <p:nvPr/>
        </p:nvSpPr>
        <p:spPr>
          <a:xfrm>
            <a:off x="933855" y="4989122"/>
            <a:ext cx="6916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hr-HR" dirty="0"/>
              <a:t>How </a:t>
            </a:r>
            <a:r>
              <a:rPr lang="hr-HR" dirty="0" err="1"/>
              <a:t>many</a:t>
            </a:r>
            <a:r>
              <a:rPr lang="hr-HR" dirty="0"/>
              <a:t> </a:t>
            </a:r>
            <a:r>
              <a:rPr lang="hr-HR" dirty="0" err="1"/>
              <a:t>players</a:t>
            </a:r>
            <a:r>
              <a:rPr lang="hr-HR" dirty="0"/>
              <a:t> </a:t>
            </a:r>
            <a:r>
              <a:rPr lang="hr-HR" dirty="0" err="1"/>
              <a:t>that</a:t>
            </a:r>
            <a:r>
              <a:rPr lang="hr-HR" dirty="0"/>
              <a:t> are </a:t>
            </a:r>
            <a:r>
              <a:rPr lang="hr-HR" dirty="0" err="1"/>
              <a:t>shown</a:t>
            </a:r>
            <a:r>
              <a:rPr lang="hr-HR" dirty="0"/>
              <a:t> on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graph</a:t>
            </a:r>
            <a:r>
              <a:rPr lang="hr-HR" dirty="0"/>
              <a:t> had more </a:t>
            </a:r>
            <a:r>
              <a:rPr lang="hr-HR" dirty="0" err="1"/>
              <a:t>than</a:t>
            </a:r>
            <a:r>
              <a:rPr lang="hr-HR" dirty="0"/>
              <a:t> 6 </a:t>
            </a:r>
            <a:r>
              <a:rPr lang="hr-HR" dirty="0" err="1"/>
              <a:t>assists</a:t>
            </a:r>
            <a:r>
              <a:rPr lang="hr-HR" dirty="0"/>
              <a:t> </a:t>
            </a:r>
            <a:r>
              <a:rPr lang="hr-HR" dirty="0" err="1"/>
              <a:t>average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last</a:t>
            </a:r>
            <a:r>
              <a:rPr lang="hr-HR" dirty="0"/>
              <a:t> </a:t>
            </a:r>
            <a:r>
              <a:rPr lang="hr-HR" dirty="0" err="1"/>
              <a:t>month</a:t>
            </a:r>
            <a:r>
              <a:rPr lang="hr-HR" dirty="0"/>
              <a:t>?</a:t>
            </a:r>
          </a:p>
          <a:p>
            <a:pPr marL="342900" indent="-342900">
              <a:buAutoNum type="arabicPeriod"/>
            </a:pPr>
            <a:r>
              <a:rPr lang="en-US" dirty="0"/>
              <a:t>Which player shows the most balanced performance across all five categories?</a:t>
            </a:r>
            <a:endParaRPr lang="hr-HR" dirty="0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C1D9AD57-264A-3C8E-7436-E7F887DED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050318"/>
            <a:ext cx="6604445" cy="3876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20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4D9B6-71D1-6064-8306-7E99C8BF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171" y="454772"/>
            <a:ext cx="10829364" cy="1863446"/>
          </a:xfrm>
        </p:spPr>
        <p:txBody>
          <a:bodyPr/>
          <a:lstStyle/>
          <a:p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3.  Graph: clutch factor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Rezervirano mjesto sadržaja 5">
            <a:extLst>
              <a:ext uri="{FF2B5EF4-FFF2-40B4-BE49-F238E27FC236}">
                <a16:creationId xmlns:a16="http://schemas.microsoft.com/office/drawing/2014/main" id="{0D5BC977-9BF0-71EA-7F71-B4971877C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0879" y="1134157"/>
            <a:ext cx="11514693" cy="5603132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DB5F3715-CA1E-6E36-D49E-094D74F70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98" y="1113040"/>
            <a:ext cx="8188634" cy="3984254"/>
          </a:xfrm>
          <a:prstGeom prst="rect">
            <a:avLst/>
          </a:prstGeom>
        </p:spPr>
      </p:pic>
      <p:sp>
        <p:nvSpPr>
          <p:cNvPr id="8" name="TekstniOkvir 7">
            <a:extLst>
              <a:ext uri="{FF2B5EF4-FFF2-40B4-BE49-F238E27FC236}">
                <a16:creationId xmlns:a16="http://schemas.microsoft.com/office/drawing/2014/main" id="{C2F4F130-E4D0-551A-15EA-4F3E7EEA7E2D}"/>
              </a:ext>
            </a:extLst>
          </p:cNvPr>
          <p:cNvSpPr txBox="1"/>
          <p:nvPr/>
        </p:nvSpPr>
        <p:spPr>
          <a:xfrm>
            <a:off x="778213" y="5029200"/>
            <a:ext cx="7694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Which player has the highest win percentage in clutch games?</a:t>
            </a:r>
            <a:endParaRPr lang="hr-HR" dirty="0"/>
          </a:p>
          <a:p>
            <a:pPr marL="342900" indent="-342900">
              <a:buAutoNum type="arabicPeriod"/>
            </a:pPr>
            <a:r>
              <a:rPr lang="en-US" dirty="0"/>
              <a:t>Among players with more than 25 PPG in clutch games, who has the lowest </a:t>
            </a:r>
            <a:r>
              <a:rPr lang="hr-HR" dirty="0" err="1"/>
              <a:t>field</a:t>
            </a:r>
            <a:r>
              <a:rPr lang="hr-HR" dirty="0"/>
              <a:t> </a:t>
            </a:r>
            <a:r>
              <a:rPr lang="hr-HR" dirty="0" err="1"/>
              <a:t>goal</a:t>
            </a:r>
            <a:r>
              <a:rPr lang="en-US" dirty="0"/>
              <a:t> percentage?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49340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228</Words>
  <Application>Microsoft Office PowerPoint</Application>
  <PresentationFormat>Široki zaslon</PresentationFormat>
  <Paragraphs>28</Paragraphs>
  <Slides>5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sustava Office</vt:lpstr>
      <vt:lpstr>NBA betting insights</vt:lpstr>
      <vt:lpstr>🏀  Project goal</vt:lpstr>
      <vt:lpstr>Graph: team points trend</vt:lpstr>
      <vt:lpstr>2.  Graph: player statistics </vt:lpstr>
      <vt:lpstr>3.  Graph: clutch factor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Luka Zuanović</cp:lastModifiedBy>
  <cp:revision>32</cp:revision>
  <dcterms:created xsi:type="dcterms:W3CDTF">2025-10-19T17:17:09Z</dcterms:created>
  <dcterms:modified xsi:type="dcterms:W3CDTF">2025-11-19T22:07:47Z</dcterms:modified>
</cp:coreProperties>
</file>