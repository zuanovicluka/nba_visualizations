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1_6FA096D8.xml" ContentType="application/vnd.ms-powerpoint.comment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678F719-919F-E3F1-2C46-0EC500D726E7}" name="Luka Zuanovic" initials="LZ" userId="S::luka.zuanovic@ua.pt::25f85935-9e84-4d32-aa3d-6a40b92e9f8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726E5-E3B8-4899-BC32-299507C93740}" v="188" dt="2025-10-20T12:07:28.059"/>
    <p1510:client id="{908C6947-4AC5-013C-E94F-5314F2677027}" v="48" dt="2025-10-19T19:06:54.329"/>
    <p1510:client id="{9A5AE58A-3019-61E2-C57C-3A06323A5607}" v="15" dt="2025-10-19T19:04:49.120"/>
    <p1510:client id="{D68D906D-42C6-6753-BD9E-5A51290E784A}" v="209" dt="2025-10-19T18:25:56.6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ka Zuanović" userId="1d390c9c-2e7e-452a-af11-11727cc65367" providerId="ADAL" clId="{C78747B7-A0FA-4FB6-82A3-4E8F2D03FF44}"/>
    <pc:docChg chg="custSel modSld">
      <pc:chgData name="Luka Zuanović" userId="1d390c9c-2e7e-452a-af11-11727cc65367" providerId="ADAL" clId="{C78747B7-A0FA-4FB6-82A3-4E8F2D03FF44}" dt="2025-10-20T14:03:22.466" v="615" actId="20577"/>
      <pc:docMkLst>
        <pc:docMk/>
      </pc:docMkLst>
      <pc:sldChg chg="modSp mod">
        <pc:chgData name="Luka Zuanović" userId="1d390c9c-2e7e-452a-af11-11727cc65367" providerId="ADAL" clId="{C78747B7-A0FA-4FB6-82A3-4E8F2D03FF44}" dt="2025-10-20T14:03:22.466" v="615" actId="20577"/>
        <pc:sldMkLst>
          <pc:docMk/>
          <pc:sldMk cId="1872795352" sldId="257"/>
        </pc:sldMkLst>
        <pc:spChg chg="mod">
          <ac:chgData name="Luka Zuanović" userId="1d390c9c-2e7e-452a-af11-11727cc65367" providerId="ADAL" clId="{C78747B7-A0FA-4FB6-82A3-4E8F2D03FF44}" dt="2025-10-20T14:03:22.466" v="615" actId="20577"/>
          <ac:spMkLst>
            <pc:docMk/>
            <pc:sldMk cId="1872795352" sldId="257"/>
            <ac:spMk id="3" creationId="{8B840BEA-8A69-6665-1EF3-E40CE2E0546A}"/>
          </ac:spMkLst>
        </pc:spChg>
      </pc:sldChg>
      <pc:sldChg chg="addSp delSp modSp mod delAnim modAnim">
        <pc:chgData name="Luka Zuanović" userId="1d390c9c-2e7e-452a-af11-11727cc65367" providerId="ADAL" clId="{C78747B7-A0FA-4FB6-82A3-4E8F2D03FF44}" dt="2025-10-20T12:01:13.435" v="475" actId="1076"/>
        <pc:sldMkLst>
          <pc:docMk/>
          <pc:sldMk cId="2052448907" sldId="258"/>
        </pc:sldMkLst>
        <pc:spChg chg="add mod ord">
          <ac:chgData name="Luka Zuanović" userId="1d390c9c-2e7e-452a-af11-11727cc65367" providerId="ADAL" clId="{C78747B7-A0FA-4FB6-82A3-4E8F2D03FF44}" dt="2025-10-20T11:59:07.845" v="454" actId="14100"/>
          <ac:spMkLst>
            <pc:docMk/>
            <pc:sldMk cId="2052448907" sldId="258"/>
            <ac:spMk id="5" creationId="{2869A6DB-AACD-B4A7-DDDF-0C9B88A658EE}"/>
          </ac:spMkLst>
        </pc:spChg>
        <pc:spChg chg="add del mod">
          <ac:chgData name="Luka Zuanović" userId="1d390c9c-2e7e-452a-af11-11727cc65367" providerId="ADAL" clId="{C78747B7-A0FA-4FB6-82A3-4E8F2D03FF44}" dt="2025-10-20T11:57:47.733" v="434"/>
          <ac:spMkLst>
            <pc:docMk/>
            <pc:sldMk cId="2052448907" sldId="258"/>
            <ac:spMk id="7" creationId="{9C8ECE09-7258-3BE0-DD34-98E3E4E03AAB}"/>
          </ac:spMkLst>
        </pc:spChg>
        <pc:spChg chg="add del mod">
          <ac:chgData name="Luka Zuanović" userId="1d390c9c-2e7e-452a-af11-11727cc65367" providerId="ADAL" clId="{C78747B7-A0FA-4FB6-82A3-4E8F2D03FF44}" dt="2025-10-20T11:57:59.062" v="436"/>
          <ac:spMkLst>
            <pc:docMk/>
            <pc:sldMk cId="2052448907" sldId="258"/>
            <ac:spMk id="10" creationId="{BA62F084-8ED5-F4E4-2B5F-917522C4FDDD}"/>
          </ac:spMkLst>
        </pc:spChg>
        <pc:spChg chg="add del mod">
          <ac:chgData name="Luka Zuanović" userId="1d390c9c-2e7e-452a-af11-11727cc65367" providerId="ADAL" clId="{C78747B7-A0FA-4FB6-82A3-4E8F2D03FF44}" dt="2025-10-20T11:58:06.730" v="438"/>
          <ac:spMkLst>
            <pc:docMk/>
            <pc:sldMk cId="2052448907" sldId="258"/>
            <ac:spMk id="13" creationId="{AF02895F-ABFA-74FE-1B3F-91487C0AF049}"/>
          </ac:spMkLst>
        </pc:spChg>
        <pc:picChg chg="add del mod">
          <ac:chgData name="Luka Zuanović" userId="1d390c9c-2e7e-452a-af11-11727cc65367" providerId="ADAL" clId="{C78747B7-A0FA-4FB6-82A3-4E8F2D03FF44}" dt="2025-10-20T11:57:45.805" v="433" actId="21"/>
          <ac:picMkLst>
            <pc:docMk/>
            <pc:sldMk cId="2052448907" sldId="258"/>
            <ac:picMk id="3" creationId="{025CE521-F6DD-9EB2-9061-2FFF56A04EED}"/>
          </ac:picMkLst>
        </pc:picChg>
        <pc:picChg chg="del mod">
          <ac:chgData name="Luka Zuanović" userId="1d390c9c-2e7e-452a-af11-11727cc65367" providerId="ADAL" clId="{C78747B7-A0FA-4FB6-82A3-4E8F2D03FF44}" dt="2025-10-20T11:57:42.665" v="432" actId="21"/>
          <ac:picMkLst>
            <pc:docMk/>
            <pc:sldMk cId="2052448907" sldId="258"/>
            <ac:picMk id="4" creationId="{C28DF686-1EDC-A548-CBAD-F3A41D026945}"/>
          </ac:picMkLst>
        </pc:picChg>
        <pc:picChg chg="add del mod">
          <ac:chgData name="Luka Zuanović" userId="1d390c9c-2e7e-452a-af11-11727cc65367" providerId="ADAL" clId="{C78747B7-A0FA-4FB6-82A3-4E8F2D03FF44}" dt="2025-10-20T11:57:57.776" v="435" actId="21"/>
          <ac:picMkLst>
            <pc:docMk/>
            <pc:sldMk cId="2052448907" sldId="258"/>
            <ac:picMk id="8" creationId="{A3D0C30A-2927-FD87-6929-62F7DAB3B2B9}"/>
          </ac:picMkLst>
        </pc:picChg>
        <pc:picChg chg="add del mod">
          <ac:chgData name="Luka Zuanović" userId="1d390c9c-2e7e-452a-af11-11727cc65367" providerId="ADAL" clId="{C78747B7-A0FA-4FB6-82A3-4E8F2D03FF44}" dt="2025-10-20T11:58:01.321" v="437" actId="21"/>
          <ac:picMkLst>
            <pc:docMk/>
            <pc:sldMk cId="2052448907" sldId="258"/>
            <ac:picMk id="11" creationId="{91F9C084-7D19-ECB1-99A5-BD6A767D0069}"/>
          </ac:picMkLst>
        </pc:picChg>
        <pc:picChg chg="add mod">
          <ac:chgData name="Luka Zuanović" userId="1d390c9c-2e7e-452a-af11-11727cc65367" providerId="ADAL" clId="{C78747B7-A0FA-4FB6-82A3-4E8F2D03FF44}" dt="2025-10-20T12:00:32.057" v="468" actId="1076"/>
          <ac:picMkLst>
            <pc:docMk/>
            <pc:sldMk cId="2052448907" sldId="258"/>
            <ac:picMk id="14" creationId="{DB5972AA-615F-A9FA-0B52-C4BB448722F1}"/>
          </ac:picMkLst>
        </pc:picChg>
        <pc:picChg chg="add mod">
          <ac:chgData name="Luka Zuanović" userId="1d390c9c-2e7e-452a-af11-11727cc65367" providerId="ADAL" clId="{C78747B7-A0FA-4FB6-82A3-4E8F2D03FF44}" dt="2025-10-20T12:01:13.435" v="475" actId="1076"/>
          <ac:picMkLst>
            <pc:docMk/>
            <pc:sldMk cId="2052448907" sldId="258"/>
            <ac:picMk id="15" creationId="{3C546FB9-DEF2-78C2-5819-887ACE862F0F}"/>
          </ac:picMkLst>
        </pc:picChg>
      </pc:sldChg>
      <pc:sldChg chg="addSp delSp modSp mod delAnim modAnim">
        <pc:chgData name="Luka Zuanović" userId="1d390c9c-2e7e-452a-af11-11727cc65367" providerId="ADAL" clId="{C78747B7-A0FA-4FB6-82A3-4E8F2D03FF44}" dt="2025-10-20T12:09:06.381" v="551" actId="1036"/>
        <pc:sldMkLst>
          <pc:docMk/>
          <pc:sldMk cId="1133203939" sldId="259"/>
        </pc:sldMkLst>
        <pc:spChg chg="add del mod">
          <ac:chgData name="Luka Zuanović" userId="1d390c9c-2e7e-452a-af11-11727cc65367" providerId="ADAL" clId="{C78747B7-A0FA-4FB6-82A3-4E8F2D03FF44}" dt="2025-10-20T11:45:50.619" v="310"/>
          <ac:spMkLst>
            <pc:docMk/>
            <pc:sldMk cId="1133203939" sldId="259"/>
            <ac:spMk id="4" creationId="{20203FC1-2E17-121F-B1DA-069C8C5E5EDE}"/>
          </ac:spMkLst>
        </pc:spChg>
        <pc:spChg chg="add mod ord">
          <ac:chgData name="Luka Zuanović" userId="1d390c9c-2e7e-452a-af11-11727cc65367" providerId="ADAL" clId="{C78747B7-A0FA-4FB6-82A3-4E8F2D03FF44}" dt="2025-10-20T12:02:03.842" v="482" actId="170"/>
          <ac:spMkLst>
            <pc:docMk/>
            <pc:sldMk cId="1133203939" sldId="259"/>
            <ac:spMk id="5" creationId="{2561E9BD-BCE2-8B4B-4B87-19079223184B}"/>
          </ac:spMkLst>
        </pc:spChg>
        <pc:spChg chg="add mod">
          <ac:chgData name="Luka Zuanović" userId="1d390c9c-2e7e-452a-af11-11727cc65367" providerId="ADAL" clId="{C78747B7-A0FA-4FB6-82A3-4E8F2D03FF44}" dt="2025-10-20T12:01:35.154" v="477" actId="21"/>
          <ac:spMkLst>
            <pc:docMk/>
            <pc:sldMk cId="1133203939" sldId="259"/>
            <ac:spMk id="7" creationId="{D3F9943E-440F-6CDC-F06E-382B1A94E552}"/>
          </ac:spMkLst>
        </pc:spChg>
        <pc:picChg chg="add del mod">
          <ac:chgData name="Luka Zuanović" userId="1d390c9c-2e7e-452a-af11-11727cc65367" providerId="ADAL" clId="{C78747B7-A0FA-4FB6-82A3-4E8F2D03FF44}" dt="2025-10-20T12:01:33.208" v="476" actId="21"/>
          <ac:picMkLst>
            <pc:docMk/>
            <pc:sldMk cId="1133203939" sldId="259"/>
            <ac:picMk id="3" creationId="{B0CCE622-B0EC-FC46-98F6-1ACB2E05C46C}"/>
          </ac:picMkLst>
        </pc:picChg>
        <pc:picChg chg="add mod">
          <ac:chgData name="Luka Zuanović" userId="1d390c9c-2e7e-452a-af11-11727cc65367" providerId="ADAL" clId="{C78747B7-A0FA-4FB6-82A3-4E8F2D03FF44}" dt="2025-10-20T12:09:06.381" v="551" actId="1036"/>
          <ac:picMkLst>
            <pc:docMk/>
            <pc:sldMk cId="1133203939" sldId="259"/>
            <ac:picMk id="8" creationId="{736C0CC1-9937-9EDA-FE6C-5599C2B20E4C}"/>
          </ac:picMkLst>
        </pc:picChg>
        <pc:picChg chg="del">
          <ac:chgData name="Luka Zuanović" userId="1d390c9c-2e7e-452a-af11-11727cc65367" providerId="ADAL" clId="{C78747B7-A0FA-4FB6-82A3-4E8F2D03FF44}" dt="2025-10-20T12:01:35.154" v="477" actId="21"/>
          <ac:picMkLst>
            <pc:docMk/>
            <pc:sldMk cId="1133203939" sldId="259"/>
            <ac:picMk id="9" creationId="{D6AC4876-18DF-DB09-8BA8-9492BF3F3191}"/>
          </ac:picMkLst>
        </pc:picChg>
        <pc:picChg chg="add mod">
          <ac:chgData name="Luka Zuanović" userId="1d390c9c-2e7e-452a-af11-11727cc65367" providerId="ADAL" clId="{C78747B7-A0FA-4FB6-82A3-4E8F2D03FF44}" dt="2025-10-20T12:02:30.639" v="488" actId="1076"/>
          <ac:picMkLst>
            <pc:docMk/>
            <pc:sldMk cId="1133203939" sldId="259"/>
            <ac:picMk id="10" creationId="{C1D9AD57-264A-3C8E-7436-E7F887DED0A9}"/>
          </ac:picMkLst>
        </pc:picChg>
      </pc:sldChg>
      <pc:sldChg chg="addSp delSp modSp mod modAnim">
        <pc:chgData name="Luka Zuanović" userId="1d390c9c-2e7e-452a-af11-11727cc65367" providerId="ADAL" clId="{C78747B7-A0FA-4FB6-82A3-4E8F2D03FF44}" dt="2025-10-20T12:07:55.545" v="536" actId="14100"/>
        <pc:sldMkLst>
          <pc:docMk/>
          <pc:sldMk cId="4049340731" sldId="260"/>
        </pc:sldMkLst>
        <pc:spChg chg="add del mod">
          <ac:chgData name="Luka Zuanović" userId="1d390c9c-2e7e-452a-af11-11727cc65367" providerId="ADAL" clId="{C78747B7-A0FA-4FB6-82A3-4E8F2D03FF44}" dt="2025-10-20T12:03:26.340" v="494"/>
          <ac:spMkLst>
            <pc:docMk/>
            <pc:sldMk cId="4049340731" sldId="260"/>
            <ac:spMk id="4" creationId="{31551866-E7CA-D87B-D8EE-5F5E795DFDD6}"/>
          </ac:spMkLst>
        </pc:spChg>
        <pc:spChg chg="add mod">
          <ac:chgData name="Luka Zuanović" userId="1d390c9c-2e7e-452a-af11-11727cc65367" providerId="ADAL" clId="{C78747B7-A0FA-4FB6-82A3-4E8F2D03FF44}" dt="2025-10-20T12:07:28.059" v="535" actId="20577"/>
          <ac:spMkLst>
            <pc:docMk/>
            <pc:sldMk cId="4049340731" sldId="260"/>
            <ac:spMk id="8" creationId="{C2F4F130-E4D0-551A-15EA-4F3E7EEA7E2D}"/>
          </ac:spMkLst>
        </pc:spChg>
        <pc:picChg chg="del">
          <ac:chgData name="Luka Zuanović" userId="1d390c9c-2e7e-452a-af11-11727cc65367" providerId="ADAL" clId="{C78747B7-A0FA-4FB6-82A3-4E8F2D03FF44}" dt="2025-10-20T12:03:13.806" v="493" actId="21"/>
          <ac:picMkLst>
            <pc:docMk/>
            <pc:sldMk cId="4049340731" sldId="260"/>
            <ac:picMk id="5" creationId="{1236C2F9-C994-591E-0B64-0299805CBEC4}"/>
          </ac:picMkLst>
        </pc:picChg>
        <pc:picChg chg="add mod">
          <ac:chgData name="Luka Zuanović" userId="1d390c9c-2e7e-452a-af11-11727cc65367" providerId="ADAL" clId="{C78747B7-A0FA-4FB6-82A3-4E8F2D03FF44}" dt="2025-10-20T12:03:59.730" v="503" actId="1076"/>
          <ac:picMkLst>
            <pc:docMk/>
            <pc:sldMk cId="4049340731" sldId="260"/>
            <ac:picMk id="6" creationId="{0D5BC977-9BF0-71EA-7F71-B4971877CF24}"/>
          </ac:picMkLst>
        </pc:picChg>
        <pc:picChg chg="add mod">
          <ac:chgData name="Luka Zuanović" userId="1d390c9c-2e7e-452a-af11-11727cc65367" providerId="ADAL" clId="{C78747B7-A0FA-4FB6-82A3-4E8F2D03FF44}" dt="2025-10-20T12:07:55.545" v="536" actId="14100"/>
          <ac:picMkLst>
            <pc:docMk/>
            <pc:sldMk cId="4049340731" sldId="260"/>
            <ac:picMk id="7" creationId="{DB5F3715-CA1E-6E36-D49E-094D74F707FE}"/>
          </ac:picMkLst>
        </pc:picChg>
      </pc:sldChg>
    </pc:docChg>
  </pc:docChgLst>
</pc:chgInfo>
</file>

<file path=ppt/comments/modernComment_101_6FA096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8C8EB66-D97C-4540-BA48-1D02B19282EE}" authorId="{8678F719-919F-E3F1-2C46-0EC500D726E7}" created="2025-10-19T17:33:25.677">
    <pc:sldMkLst xmlns:pc="http://schemas.microsoft.com/office/powerpoint/2013/main/command">
      <pc:docMk/>
      <pc:sldMk cId="1872795352" sldId="257"/>
    </pc:sldMkLst>
    <p188:txBody>
      <a:bodyPr/>
      <a:lstStyle/>
      <a:p>
        <a:r>
          <a:rPr lang="en-US"/>
          <a:t>1. The goal of our project is to build an interactive NBA data visualization system that helps users - especially basketball fans and sports bettors - better understand trends, performance metrics, and probabilities.</a:t>
        </a:r>
      </a:p>
    </p188:txBody>
  </p188:cm>
</p188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20:15:03.4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1188 24575,'0'30'0,"-1"-13"0,1 1 0,4 25 0,-3-37 0,0-1 0,0 1 0,1-1 0,0 1 0,0-1 0,0 0 0,1 0 0,0 0 0,0 0 0,0-1 0,7 9 0,-7-11 0,-2 0 0,0-1 0,0 1 0,0-1 0,0 1 0,1-1 0,-1 0 0,1 0 0,-1 0 0,1 0 0,-1 0 0,1 0 0,-1 0 0,1 0 0,0 0 0,2 0 0,-3-2 0,1 0 0,0 0 0,0 0 0,-1 0 0,1 0 0,-1-1 0,1 1 0,-1 0 0,1-1 0,-1 1 0,0-1 0,0 1 0,0-1 0,0 0 0,0 0 0,0 1 0,0-1 0,0-2 0,67-132 0,10-18 0,144-177 0,28 17 0,46-61 0,-264 337-1365,-20 28-5461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20:15:07.2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1142 24575,'17'44'0,"10"42"0,70 194 0,-96-279 0,-1 0 0,1 0 0,0 0 0,-1 0 0,1 0 0,0 0 0,0 0 0,0 0 0,0-1 0,0 1 0,0 0 0,0 0 0,0-1 0,0 1 0,0-1 0,0 1 0,0-1 0,0 1 0,0-1 0,0 0 0,1 1 0,-1-1 0,0 0 0,0 0 0,1 0 0,-1 0 0,0 0 0,0 0 0,0 0 0,1 0 0,-1-1 0,0 1 0,0 0 0,0-1 0,2 0 0,7-3 0,1-1 0,-2 1 0,14-9 0,-12 6 0,321-220 36,-9-36-389,-264 214 110,931-793-3366,-822 692-413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20:15:15.1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0 410 24575,'1'9'0,"0"0"0,1 0 0,0 0 0,1 0 0,6 15 0,3 14 0,-10-30 0,8 30 0,-2 0 0,-1 1 0,2 55 0,-7-55 0,8 45 0,-3-34 0,0-32 0,-7-18 0,0 0 0,1 0 0,-1 0 0,0 1 0,1-1 0,-1 0 0,0 0 0,1 0 0,-1 0 0,0 0 0,1 1 0,-1-1 0,0 0 0,1 0 0,-1 0 0,1 0 0,-1 0 0,0 0 0,1-1 0,-1 1 0,0 0 0,1 0 0,-1 0 0,1 0 0,-1 0 0,0 0 0,1-1 0,-1 1 0,4-3 0,-1 1 0,0-1 0,0 0 0,0 0 0,-1-1 0,1 1 0,3-7 0,35-60 0,55-134 0,-66 135 0,129-302-1365,-85 192-5461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9T20:41:03.3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0 853 24575,'4'5'0,"-1"1"0,0-1 0,-1 0 0,1 1 0,-1 0 0,0 0 0,0 0 0,1 8 0,5 14 0,15 33 0,-3-12 0,-3 0 0,20 88 0,-37-136 0,0 1 0,0 0 0,0-1 0,1 1 0,-1-1 0,0 1 0,1-1 0,0 1 0,-1-1 0,1 0 0,0 1 0,-1-1 0,1 0 0,0 1 0,0-1 0,0 0 0,0 0 0,0 0 0,1 0 0,1 2 0,-2-3 0,0 0 0,0 0 0,0 0 0,0 0 0,0 0 0,0 0 0,1 0 0,-1 0 0,0 0 0,0 0 0,0-1 0,0 1 0,0-1 0,0 1 0,0 0 0,0-1 0,0 0 0,0 1 0,0-1 0,0 0 0,1 0 0,6-6 0,-1-1 0,1 0 0,-1 0 0,9-15 0,25-46 0,-2-1 0,33-88 0,-40 85 0,246-604 0,-239 544-1365,-34 108-5461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3:23:58.3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1281 24575,'1'0'0,"0"1"0,0-1 0,0 0 0,0 1 0,-1-1 0,1 0 0,0 1 0,0-1 0,0 1 0,0 0 0,-1-1 0,1 1 0,0 0 0,-1-1 0,1 1 0,0 0 0,-1 0 0,1 0 0,-1-1 0,1 1 0,-1 0 0,0 0 0,1 0 0,-1 1 0,9 31 0,-5-20 0,8 20 0,31 56 0,5 9 0,-46-92 0,9 18 0,-10-24 0,-1 1 0,1-1 0,0 1 0,-1 0 0,1-1 0,-1 1 0,1-1 0,0 0 0,0 1 0,-1-1 0,1 1 0,0-1 0,0 0 0,0 0 0,-1 0 0,1 1 0,0-1 0,0 0 0,0 0 0,-1 0 0,1 0 0,0 0 0,0 0 0,0 0 0,0-1 0,-1 1 0,1 0 0,0 0 0,0-1 0,1 0 0,7-5 0,0 0 0,0-1 0,-1-1 0,0 1 0,0-1 0,-1-1 0,0 1 0,11-18 0,1 0 0,494-721 0,-273 384 0,-182 276 0,95-130 0,-145 208-227,1 0-1,-1 0 1,1 1-1,1 0 1,11-8-1,4 3-6598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3:24:00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1551 24575,'10'39'0,"-6"-24"0,-1 0 0,2 0 0,6 14 0,-9-26 0,-1 0 0,1 0 0,-1 0 0,1 0 0,0 0 0,0-1 0,0 1 0,1 0 0,-1-1 0,1 0 0,-1 0 0,1 0 0,0 0 0,0 0 0,0 0 0,0-1 0,0 1 0,6 1 0,-6-3 0,0 0 0,0 0 0,0 0 0,0 0 0,0 0 0,0-1 0,0 1 0,-1-1 0,1 0 0,0 0 0,0 0 0,0 0 0,-1 0 0,1-1 0,-1 1 0,1-1 0,-1 0 0,1 1 0,3-5 0,4-4 0,-1 0 0,15-21 0,63-104 0,-46 70 0,109-216 0,-78 139 0,436-816-1365,-478 901-5461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3:24:01.7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1506 24575,'2'16'0,"1"0"0,0 0 0,1-1 0,0 1 0,2-1 0,0 0 0,9 17 0,-1 0 0,-7-14 0,1 0 0,0-1 0,1-1 0,0 1 0,2-1 0,0-1 0,0 0 0,15 13 0,-24-26 0,0 0 0,0-1 0,0 1 0,0-1 0,1 1 0,-1-1 0,0 0 0,1 0 0,-1 0 0,1 0 0,-1-1 0,1 1 0,-1-1 0,1 1 0,0-1 0,-1 0 0,1 0 0,0 0 0,-1 0 0,1-1 0,-1 1 0,1-1 0,-1 1 0,1-1 0,-1 0 0,1 0 0,-1 0 0,1 0 0,-1-1 0,0 1 0,0-1 0,0 1 0,3-3 0,5-5 0,-1-1 0,1-1 0,-2 1 0,1-1 0,6-13 0,-15 24 0,57-97 0,-5-3 0,49-127 0,-60 129 0,307-744 0,-263 628-1365,-9 29-5461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3:24:03.6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1500 24575,'2'24'0,"2"0"0,0 0 0,2 0 0,1 0 0,0-1 0,13 25 0,-7-13 0,33 93 0,-46-128 0,0 0 0,0 1 0,0-1 0,0 0 0,0 0 0,0 1 0,0-1 0,0 0 0,0 1 0,0-1 0,1 0 0,-1 0 0,0 1 0,0-1 0,0 0 0,1 0 0,-1 1 0,0-1 0,0 0 0,0 0 0,1 0 0,-1 1 0,0-1 0,1 0 0,-1 0 0,0 0 0,0 0 0,1 0 0,-1 1 0,0-1 0,1 0 0,-1 0 0,0 0 0,1 0 0,-1 0 0,0 0 0,1 0 0,11-10 0,14-27 0,-22 30 0,58-101 0,56-134 0,-42 78 0,10-3 0,7 4 0,7 4 0,7 5 0,153-170 0,-99 149-1365,-15 24-5461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3:24:09.3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1 836 24575,'0'5'0,"1"-1"0,0 1 0,1-1 0,-1 0 0,1 1 0,0-1 0,0 0 0,0 0 0,0 0 0,3 3 0,7 14 0,58 120 0,94 280 0,-161-408 0,-1-3 0,1 0 0,0 0 0,7 14 0,-10-23 0,0 0 0,1 0 0,-1 0 0,0-1 0,1 1 0,-1 0 0,1 0 0,-1 0 0,1 0 0,0-1 0,-1 1 0,1 0 0,0 0 0,-1-1 0,1 1 0,0 0 0,0-1 0,0 1 0,0-1 0,-1 1 0,1-1 0,0 0 0,0 1 0,0-1 0,0 0 0,0 0 0,0 0 0,0 1 0,0-1 0,0 0 0,0 0 0,0 0 0,0-1 0,0 1 0,0 0 0,0 0 0,0 0 0,0-1 0,0 1 0,0-1 0,0 1 0,0 0 0,1-2 0,2-1 0,0-1 0,0 1 0,0-1 0,0-1 0,-1 1 0,1 0 0,-1-1 0,4-8 0,21-49 0,-18 34 0,123-325 0,11-28 0,6 65 120,-107 240-863,102-137 1,-83 139-6084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13:24:10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1 976 24575,'1'1'0,"1"0"0,-1 0 0,0-1 0,1 1 0,-1 1 0,0-1 0,0 0 0,0 0 0,0 0 0,0 1 0,0-1 0,0 0 0,0 1 0,-1-1 0,1 1 0,0-1 0,-1 1 0,1 2 0,2 3 0,14 32 0,20 79 0,-25-77 0,32 79 0,68 83 0,-60-114 0,-47-77 0,-2-6 0,0 0 0,1 1 0,-1-2 0,1 1 0,5 6 0,-8-11 0,0 0 0,-1-1 0,1 1 0,0 0 0,0-1 0,-1 1 0,1-1 0,0 1 0,0-1 0,0 1 0,0-1 0,0 0 0,-1 0 0,1 1 0,0-1 0,0 0 0,0 0 0,0 0 0,0 0 0,0 0 0,0 0 0,0 0 0,0 0 0,0 0 0,0 0 0,0-1 0,0 1 0,0 0 0,-1-1 0,1 1 0,0-1 0,0 1 0,0-1 0,0 1 0,-1-1 0,1 1 0,0-1 0,-1 0 0,1 1 0,0-1 0,-1 0 0,1 0 0,-1 0 0,1 1 0,0-3 0,15-23 0,-1-1 0,-1 0 0,-1-1 0,11-36 0,-7 21 0,487-1259-1365,-445 1152-5461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02:21:04.4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1407 24575,'6'1'0,"0"0"0,-1 0 0,1 1 0,0-1 0,-1 1 0,0 1 0,0-1 0,1 1 0,6 4 0,0 1 0,25 14 0,51 40 0,-29-18 0,-58-43 0,0 0 0,0 0 0,0 0 0,0-1 0,0 1 0,0 0 0,1-1 0,-1 1 0,0-1 0,0 1 0,0-1 0,1 1 0,-1-1 0,0 0 0,0 0 0,1 0 0,-1 0 0,0 0 0,1 0 0,-1 0 0,0 0 0,0 0 0,1-1 0,-1 1 0,0 0 0,0-1 0,2 0 0,0-2 0,0 1 0,0-1 0,-1 0 0,0 0 0,1 0 0,-1-1 0,0 1 0,2-7 0,52-101 0,150-276 0,-3 71-682,294-352-1,-453 613-6143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4T02:21:05.5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2112 24575,'0'5'0,"1"0"0,1 0 0,-1 0 0,1 0 0,0-1 0,0 1 0,0-1 0,1 1 0,5 6 0,1 4 0,76 147 0,-70-146 0,-14-15 0,-1-1 0,1 0 0,0 0 0,-1 1 0,1-1 0,-1 0 0,1 0 0,0 0 0,-1 0 0,1 0 0,0 0 0,-1 0 0,1 0 0,-1 0 0,1 0 0,0 0 0,-1-1 0,1 1 0,-1 0 0,1 0 0,1-1 0,1-2 0,0 0 0,1-1 0,-1 1 0,0-1 0,-1 1 0,1-1 0,-1 0 0,4-7 0,76-151 0,-24 42 0,90-159 0,840-1263-2400,-888 1408 1389,-33 51-3769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39599A-F55A-43CD-BD42-27C7A89EA2FB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DE8A-0D1C-4207-9305-34D1513655E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6239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ADE8A-0D1C-4207-9305-34D1513655E1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536721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Uredite stil podnaslova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65679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39703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odjelj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88215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3178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5" name="Rezervirano mjesto teksta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6" name="Rezervirano mjesto sadržaja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7" name="Rezervirano mjesto datum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8" name="Rezervirano mjesto podnožj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Rezervirano mjesto broja slajd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48076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datum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4" name="Rezervirano mjesto podnožj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Rezervirano mjesto broja slajd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39718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datum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3" name="Rezervirano mjesto podnožj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37950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7856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lik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1209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20972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komiti naslov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57600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85251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1_6FA096D8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8.png"/><Relationship Id="rId5" Type="http://schemas.openxmlformats.org/officeDocument/2006/relationships/image" Target="../media/image5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customXml" Target="../ink/ink9.xml"/><Relationship Id="rId3" Type="http://schemas.openxmlformats.org/officeDocument/2006/relationships/image" Target="../media/image9.png"/><Relationship Id="rId7" Type="http://schemas.openxmlformats.org/officeDocument/2006/relationships/customXml" Target="../ink/ink6.xml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customXml" Target="../ink/ink8.xml"/><Relationship Id="rId5" Type="http://schemas.openxmlformats.org/officeDocument/2006/relationships/customXml" Target="../ink/ink5.xml"/><Relationship Id="rId15" Type="http://schemas.openxmlformats.org/officeDocument/2006/relationships/customXml" Target="../ink/ink10.xml"/><Relationship Id="rId10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customXml" Target="../ink/ink7.xml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.xml"/><Relationship Id="rId5" Type="http://schemas.openxmlformats.org/officeDocument/2006/relationships/image" Target="../media/image19.png"/><Relationship Id="rId4" Type="http://schemas.openxmlformats.org/officeDocument/2006/relationships/customXml" Target="../ink/ink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305 Dark Basketball Court Stock Videos, Footage, &amp; 4K Video Clips - Getty  Images | Dark basketball court no people">
            <a:extLst>
              <a:ext uri="{FF2B5EF4-FFF2-40B4-BE49-F238E27FC236}">
                <a16:creationId xmlns:a16="http://schemas.microsoft.com/office/drawing/2014/main" id="{DF1839B8-75EA-13CE-CE86-484BF52DAE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458585" y="2785410"/>
            <a:ext cx="10058400" cy="99742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hr-HR" sz="5200">
                <a:solidFill>
                  <a:srgbClr val="FFFFFF"/>
                </a:solidFill>
                <a:ea typeface="+mj-lt"/>
                <a:cs typeface="+mj-lt"/>
              </a:rPr>
              <a:t>NBA </a:t>
            </a:r>
            <a:r>
              <a:rPr lang="hr-HR" sz="5200" err="1">
                <a:solidFill>
                  <a:srgbClr val="FFFFFF"/>
                </a:solidFill>
                <a:ea typeface="+mj-lt"/>
                <a:cs typeface="+mj-lt"/>
              </a:rPr>
              <a:t>betting</a:t>
            </a:r>
            <a:r>
              <a:rPr lang="hr-HR" sz="5200">
                <a:solidFill>
                  <a:srgbClr val="FFFFFF"/>
                </a:solidFill>
                <a:ea typeface="+mj-lt"/>
                <a:cs typeface="+mj-lt"/>
              </a:rPr>
              <a:t> </a:t>
            </a:r>
            <a:r>
              <a:rPr lang="hr-HR" sz="5200" err="1">
                <a:solidFill>
                  <a:srgbClr val="FFFFFF"/>
                </a:solidFill>
                <a:ea typeface="+mj-lt"/>
                <a:cs typeface="+mj-lt"/>
              </a:rPr>
              <a:t>insights</a:t>
            </a:r>
            <a:endParaRPr lang="en-US" err="1"/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3229168" y="4240131"/>
            <a:ext cx="10058400" cy="187661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hr-HR" sz="2000" b="1" err="1">
                <a:solidFill>
                  <a:schemeClr val="bg1"/>
                </a:solidFill>
              </a:rPr>
              <a:t>Presented</a:t>
            </a:r>
            <a:r>
              <a:rPr lang="hr-HR" sz="2000" b="1">
                <a:solidFill>
                  <a:schemeClr val="bg1"/>
                </a:solidFill>
              </a:rPr>
              <a:t> </a:t>
            </a:r>
            <a:r>
              <a:rPr lang="hr-HR" sz="2000" b="1" err="1">
                <a:solidFill>
                  <a:schemeClr val="bg1"/>
                </a:solidFill>
              </a:rPr>
              <a:t>by</a:t>
            </a:r>
            <a:r>
              <a:rPr lang="hr-HR" sz="2000" b="1">
                <a:solidFill>
                  <a:schemeClr val="bg1"/>
                </a:solidFill>
              </a:rPr>
              <a:t>: </a:t>
            </a:r>
            <a:r>
              <a:rPr lang="hr-HR" sz="2000">
                <a:solidFill>
                  <a:schemeClr val="bg1"/>
                </a:solidFill>
              </a:rPr>
              <a:t>Luka </a:t>
            </a:r>
            <a:r>
              <a:rPr lang="hr-HR" sz="2000" err="1">
                <a:solidFill>
                  <a:schemeClr val="bg1"/>
                </a:solidFill>
              </a:rPr>
              <a:t>Zuanović</a:t>
            </a:r>
            <a:r>
              <a:rPr lang="hr-HR" sz="2000">
                <a:solidFill>
                  <a:schemeClr val="bg1"/>
                </a:solidFill>
              </a:rPr>
              <a:t> (130275) Computer </a:t>
            </a:r>
            <a:r>
              <a:rPr lang="hr-HR" sz="2000" err="1">
                <a:solidFill>
                  <a:schemeClr val="bg1"/>
                </a:solidFill>
              </a:rPr>
              <a:t>Engineering</a:t>
            </a:r>
            <a:endParaRPr lang="en-US" sz="2000">
              <a:solidFill>
                <a:schemeClr val="bg1"/>
              </a:solidFill>
            </a:endParaRPr>
          </a:p>
          <a:p>
            <a:pPr algn="l"/>
            <a:r>
              <a:rPr lang="hr-HR" sz="2000">
                <a:solidFill>
                  <a:schemeClr val="bg1"/>
                </a:solidFill>
              </a:rPr>
              <a:t>                               Marko Pongrac (130288) Data Science</a:t>
            </a:r>
          </a:p>
          <a:p>
            <a:pPr algn="l"/>
            <a:r>
              <a:rPr lang="hr-HR" sz="2000" b="1" err="1">
                <a:solidFill>
                  <a:schemeClr val="bg1"/>
                </a:solidFill>
              </a:rPr>
              <a:t>Course</a:t>
            </a:r>
            <a:r>
              <a:rPr lang="hr-HR" sz="2000" b="1">
                <a:solidFill>
                  <a:schemeClr val="bg1"/>
                </a:solidFill>
              </a:rPr>
              <a:t>:</a:t>
            </a:r>
            <a:r>
              <a:rPr lang="hr-HR" sz="2000">
                <a:solidFill>
                  <a:schemeClr val="bg1"/>
                </a:solidFill>
              </a:rPr>
              <a:t> </a:t>
            </a:r>
            <a:r>
              <a:rPr lang="hr-HR" sz="2000" err="1">
                <a:solidFill>
                  <a:schemeClr val="bg1"/>
                </a:solidFill>
              </a:rPr>
              <a:t>Information</a:t>
            </a:r>
            <a:r>
              <a:rPr lang="hr-HR" sz="2000">
                <a:solidFill>
                  <a:schemeClr val="bg1"/>
                </a:solidFill>
              </a:rPr>
              <a:t> </a:t>
            </a:r>
            <a:r>
              <a:rPr lang="hr-HR" sz="2000" err="1">
                <a:solidFill>
                  <a:schemeClr val="bg1"/>
                </a:solidFill>
              </a:rPr>
              <a:t>Visualization</a:t>
            </a:r>
            <a:r>
              <a:rPr lang="hr-HR" sz="2000">
                <a:solidFill>
                  <a:schemeClr val="bg1"/>
                </a:solidFill>
              </a:rPr>
              <a:t> </a:t>
            </a:r>
          </a:p>
          <a:p>
            <a:pPr algn="l"/>
            <a:r>
              <a:rPr lang="hr-HR" sz="2000" b="1">
                <a:solidFill>
                  <a:schemeClr val="bg1"/>
                </a:solidFill>
              </a:rPr>
              <a:t>Date:</a:t>
            </a:r>
            <a:r>
              <a:rPr lang="hr-HR" sz="2000">
                <a:solidFill>
                  <a:schemeClr val="bg1"/>
                </a:solidFill>
              </a:rPr>
              <a:t> 20.10.2025.</a:t>
            </a:r>
          </a:p>
          <a:p>
            <a:endParaRPr lang="hr-HR" sz="2000">
              <a:solidFill>
                <a:schemeClr val="bg1"/>
              </a:solidFill>
            </a:endParaRPr>
          </a:p>
        </p:txBody>
      </p:sp>
      <p:pic>
        <p:nvPicPr>
          <p:cNvPr id="5" name="Picture 4" descr="NBA Logo PNG Transparent &amp; SVG Vector - Freebie Supply">
            <a:extLst>
              <a:ext uri="{FF2B5EF4-FFF2-40B4-BE49-F238E27FC236}">
                <a16:creationId xmlns:a16="http://schemas.microsoft.com/office/drawing/2014/main" id="{5F6151BA-9AFB-7B61-4C35-DF60467D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340" y="441341"/>
            <a:ext cx="1144025" cy="254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14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97E55-5C55-6AF9-D85D-A898860EA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376" y="275478"/>
            <a:ext cx="10515600" cy="1325563"/>
          </a:xfrm>
        </p:spPr>
        <p:txBody>
          <a:bodyPr/>
          <a:lstStyle/>
          <a:p>
            <a:r>
              <a:rPr lang="en-US" dirty="0">
                <a:ea typeface="+mj-lt"/>
                <a:cs typeface="+mj-lt"/>
              </a:rPr>
              <a:t>🏀  Project goal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40BEA-8A69-6665-1EF3-E40CE2E05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3566"/>
            <a:ext cx="10515600" cy="476595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To build an interactive </a:t>
            </a:r>
            <a:r>
              <a:rPr lang="en-US" b="1" dirty="0">
                <a:ea typeface="+mn-lt"/>
                <a:cs typeface="+mn-lt"/>
              </a:rPr>
              <a:t>NBA data visualization system</a:t>
            </a:r>
            <a:r>
              <a:rPr lang="hr-HR" b="1" dirty="0">
                <a:ea typeface="+mn-lt"/>
                <a:cs typeface="+mn-lt"/>
              </a:rPr>
              <a:t> </a:t>
            </a:r>
            <a:r>
              <a:rPr lang="hr-HR" dirty="0" err="1">
                <a:ea typeface="+mn-lt"/>
                <a:cs typeface="+mn-lt"/>
              </a:rPr>
              <a:t>based</a:t>
            </a:r>
            <a:r>
              <a:rPr lang="hr-HR" dirty="0">
                <a:ea typeface="+mn-lt"/>
                <a:cs typeface="+mn-lt"/>
              </a:rPr>
              <a:t> on </a:t>
            </a:r>
            <a:r>
              <a:rPr lang="hr-HR" dirty="0" err="1">
                <a:ea typeface="+mn-lt"/>
                <a:cs typeface="+mn-lt"/>
              </a:rPr>
              <a:t>the</a:t>
            </a:r>
            <a:r>
              <a:rPr lang="hr-HR" dirty="0">
                <a:ea typeface="+mn-lt"/>
                <a:cs typeface="+mn-lt"/>
              </a:rPr>
              <a:t> </a:t>
            </a:r>
            <a:r>
              <a:rPr lang="hr-HR" dirty="0" err="1">
                <a:ea typeface="+mn-lt"/>
                <a:cs typeface="+mn-lt"/>
              </a:rPr>
              <a:t>official</a:t>
            </a:r>
            <a:r>
              <a:rPr lang="hr-HR" dirty="0">
                <a:ea typeface="+mn-lt"/>
                <a:cs typeface="+mn-lt"/>
              </a:rPr>
              <a:t> NBA </a:t>
            </a:r>
            <a:r>
              <a:rPr lang="hr-HR" dirty="0" err="1">
                <a:ea typeface="+mn-lt"/>
                <a:cs typeface="+mn-lt"/>
              </a:rPr>
              <a:t>dataset</a:t>
            </a:r>
            <a:r>
              <a:rPr lang="hr-HR" dirty="0">
                <a:ea typeface="+mn-lt"/>
                <a:cs typeface="+mn-lt"/>
              </a:rPr>
              <a:t> </a:t>
            </a:r>
            <a:r>
              <a:rPr lang="hr-HR" dirty="0" err="1">
                <a:ea typeface="+mn-lt"/>
                <a:cs typeface="+mn-lt"/>
              </a:rPr>
              <a:t>from</a:t>
            </a:r>
            <a:r>
              <a:rPr lang="hr-HR" dirty="0">
                <a:ea typeface="+mn-lt"/>
                <a:cs typeface="+mn-lt"/>
              </a:rPr>
              <a:t> 1947. - </a:t>
            </a:r>
            <a:r>
              <a:rPr lang="hr-HR" dirty="0" err="1">
                <a:ea typeface="+mn-lt"/>
                <a:cs typeface="+mn-lt"/>
              </a:rPr>
              <a:t>today</a:t>
            </a:r>
            <a:endParaRPr lang="en-US" dirty="0"/>
          </a:p>
          <a:p>
            <a:pPr marL="0" indent="0">
              <a:buNone/>
            </a:pPr>
            <a:endParaRPr lang="en-US" b="1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Empower </a:t>
            </a:r>
            <a:r>
              <a:rPr lang="en-US" b="1" dirty="0">
                <a:ea typeface="+mn-lt"/>
                <a:cs typeface="+mn-lt"/>
              </a:rPr>
              <a:t>basketball fans and sports bettors</a:t>
            </a:r>
            <a:r>
              <a:rPr lang="en-US" dirty="0">
                <a:ea typeface="+mn-lt"/>
                <a:cs typeface="+mn-lt"/>
              </a:rPr>
              <a:t> with actionable insights</a:t>
            </a:r>
            <a:endParaRPr lang="en-US" b="1" dirty="0"/>
          </a:p>
          <a:p>
            <a:endParaRPr lang="en-US" b="1" dirty="0">
              <a:ea typeface="+mn-lt"/>
              <a:cs typeface="+mn-lt"/>
            </a:endParaRPr>
          </a:p>
          <a:p>
            <a:r>
              <a:rPr lang="en-US" dirty="0">
                <a:ea typeface="+mn-lt"/>
                <a:cs typeface="+mn-lt"/>
              </a:rPr>
              <a:t>Through dynamic and customizable </a:t>
            </a:r>
            <a:r>
              <a:rPr lang="en-US" b="1" dirty="0">
                <a:ea typeface="+mn-lt"/>
                <a:cs typeface="+mn-lt"/>
              </a:rPr>
              <a:t>visualizations</a:t>
            </a:r>
            <a:r>
              <a:rPr lang="en-US" dirty="0">
                <a:ea typeface="+mn-lt"/>
                <a:cs typeface="+mn-lt"/>
              </a:rPr>
              <a:t>, users will be able to:</a:t>
            </a:r>
            <a:endParaRPr lang="en-US" b="1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Filter data by players, teams, seasons and statistics</a:t>
            </a:r>
            <a:endParaRPr lang="en-US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Compare historical and current performance</a:t>
            </a:r>
            <a:endParaRPr lang="en-US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Identify patterns that support smarter betting decisions</a:t>
            </a:r>
            <a:endParaRPr lang="en-US" dirty="0"/>
          </a:p>
          <a:p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27953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E7923-70E3-BE6F-3F95-9F4EC316F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553" y="73772"/>
            <a:ext cx="10515600" cy="1325563"/>
          </a:xfrm>
        </p:spPr>
        <p:txBody>
          <a:bodyPr/>
          <a:lstStyle/>
          <a:p>
            <a:pPr marL="742950" indent="-742950">
              <a:buAutoNum type="arabicPeriod"/>
            </a:pP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Graph: team points trend</a:t>
            </a:r>
          </a:p>
        </p:txBody>
      </p:sp>
      <p:pic>
        <p:nvPicPr>
          <p:cNvPr id="14" name="Rezervirano mjesto sadržaja 13">
            <a:extLst>
              <a:ext uri="{FF2B5EF4-FFF2-40B4-BE49-F238E27FC236}">
                <a16:creationId xmlns:a16="http://schemas.microsoft.com/office/drawing/2014/main" id="{DB5972AA-615F-A9FA-0B52-C4BB448722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0067" y="1068473"/>
            <a:ext cx="10851865" cy="5526880"/>
          </a:xfrm>
          <a:prstGeom prst="rect">
            <a:avLst/>
          </a:prstGeom>
        </p:spPr>
      </p:pic>
      <p:sp>
        <p:nvSpPr>
          <p:cNvPr id="5" name="TekstniOkvir 4">
            <a:extLst>
              <a:ext uri="{FF2B5EF4-FFF2-40B4-BE49-F238E27FC236}">
                <a16:creationId xmlns:a16="http://schemas.microsoft.com/office/drawing/2014/main" id="{2869A6DB-AACD-B4A7-DDDF-0C9B88A658EE}"/>
              </a:ext>
            </a:extLst>
          </p:cNvPr>
          <p:cNvSpPr txBox="1"/>
          <p:nvPr/>
        </p:nvSpPr>
        <p:spPr>
          <a:xfrm>
            <a:off x="591289" y="5038274"/>
            <a:ext cx="73951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u="sng" dirty="0" err="1"/>
              <a:t>Questions</a:t>
            </a:r>
            <a:r>
              <a:rPr lang="hr-HR" dirty="0"/>
              <a:t>:</a:t>
            </a:r>
          </a:p>
          <a:p>
            <a:pPr marL="342900" indent="-342900">
              <a:buAutoNum type="arabicPeriod"/>
            </a:pPr>
            <a:r>
              <a:rPr lang="hr-HR" dirty="0" err="1"/>
              <a:t>Which</a:t>
            </a:r>
            <a:r>
              <a:rPr lang="hr-HR" dirty="0"/>
              <a:t> </a:t>
            </a:r>
            <a:r>
              <a:rPr lang="hr-HR" dirty="0" err="1"/>
              <a:t>team</a:t>
            </a:r>
            <a:r>
              <a:rPr lang="hr-HR" dirty="0"/>
              <a:t> </a:t>
            </a:r>
            <a:r>
              <a:rPr lang="hr-HR" dirty="0" err="1"/>
              <a:t>scored</a:t>
            </a:r>
            <a:r>
              <a:rPr lang="hr-HR" dirty="0"/>
              <a:t> more </a:t>
            </a:r>
            <a:r>
              <a:rPr lang="hr-HR" dirty="0" err="1"/>
              <a:t>points</a:t>
            </a:r>
            <a:r>
              <a:rPr lang="hr-HR" dirty="0"/>
              <a:t> on 21.4.2018 </a:t>
            </a:r>
            <a:r>
              <a:rPr lang="hr-HR" dirty="0" err="1"/>
              <a:t>in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second</a:t>
            </a:r>
            <a:r>
              <a:rPr lang="hr-HR" dirty="0"/>
              <a:t> </a:t>
            </a:r>
            <a:r>
              <a:rPr lang="hr-HR" dirty="0" err="1"/>
              <a:t>quarter</a:t>
            </a:r>
            <a:r>
              <a:rPr lang="hr-HR" dirty="0"/>
              <a:t>?</a:t>
            </a:r>
          </a:p>
          <a:p>
            <a:pPr marL="342900" indent="-342900">
              <a:buAutoNum type="arabicPeriod"/>
            </a:pPr>
            <a:r>
              <a:rPr lang="hr-HR" dirty="0"/>
              <a:t>How </a:t>
            </a:r>
            <a:r>
              <a:rPr lang="hr-HR" dirty="0" err="1"/>
              <a:t>many</a:t>
            </a:r>
            <a:r>
              <a:rPr lang="hr-HR" dirty="0"/>
              <a:t> </a:t>
            </a:r>
            <a:r>
              <a:rPr lang="hr-HR" dirty="0" err="1"/>
              <a:t>times</a:t>
            </a:r>
            <a:r>
              <a:rPr lang="hr-HR" dirty="0"/>
              <a:t> </a:t>
            </a:r>
            <a:r>
              <a:rPr lang="hr-HR" dirty="0" err="1"/>
              <a:t>in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last</a:t>
            </a:r>
            <a:r>
              <a:rPr lang="hr-HR" dirty="0"/>
              <a:t> 10 </a:t>
            </a:r>
            <a:r>
              <a:rPr lang="hr-HR" dirty="0" err="1"/>
              <a:t>matches</a:t>
            </a:r>
            <a:r>
              <a:rPr lang="hr-HR" dirty="0"/>
              <a:t> </a:t>
            </a:r>
            <a:r>
              <a:rPr lang="hr-HR" dirty="0" err="1"/>
              <a:t>between</a:t>
            </a:r>
            <a:r>
              <a:rPr lang="hr-HR" dirty="0"/>
              <a:t> </a:t>
            </a:r>
            <a:r>
              <a:rPr lang="hr-HR" dirty="0" err="1"/>
              <a:t>team</a:t>
            </a:r>
            <a:r>
              <a:rPr lang="hr-HR" dirty="0"/>
              <a:t> A </a:t>
            </a:r>
            <a:r>
              <a:rPr lang="hr-HR" dirty="0" err="1"/>
              <a:t>and</a:t>
            </a:r>
            <a:r>
              <a:rPr lang="hr-HR" dirty="0"/>
              <a:t> </a:t>
            </a:r>
            <a:r>
              <a:rPr lang="hr-HR" dirty="0" err="1"/>
              <a:t>team</a:t>
            </a:r>
            <a:r>
              <a:rPr lang="hr-HR" dirty="0"/>
              <a:t> B </a:t>
            </a:r>
            <a:r>
              <a:rPr lang="hr-HR" dirty="0" err="1"/>
              <a:t>was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sum</a:t>
            </a:r>
            <a:r>
              <a:rPr lang="hr-HR" dirty="0"/>
              <a:t> </a:t>
            </a:r>
            <a:r>
              <a:rPr lang="hr-HR" dirty="0" err="1"/>
              <a:t>of</a:t>
            </a:r>
            <a:r>
              <a:rPr lang="hr-HR" dirty="0"/>
              <a:t> </a:t>
            </a:r>
            <a:r>
              <a:rPr lang="hr-HR" dirty="0" err="1"/>
              <a:t>points</a:t>
            </a:r>
            <a:r>
              <a:rPr lang="hr-HR" dirty="0"/>
              <a:t> </a:t>
            </a:r>
            <a:r>
              <a:rPr lang="hr-HR" dirty="0" err="1"/>
              <a:t>higher</a:t>
            </a:r>
            <a:r>
              <a:rPr lang="hr-HR" dirty="0"/>
              <a:t> </a:t>
            </a:r>
            <a:r>
              <a:rPr lang="hr-HR" dirty="0" err="1"/>
              <a:t>than</a:t>
            </a:r>
            <a:r>
              <a:rPr lang="hr-HR" dirty="0"/>
              <a:t> 240 </a:t>
            </a:r>
            <a:r>
              <a:rPr lang="hr-HR" dirty="0" err="1"/>
              <a:t>points</a:t>
            </a:r>
            <a:r>
              <a:rPr lang="hr-HR" dirty="0"/>
              <a:t>?</a:t>
            </a:r>
          </a:p>
        </p:txBody>
      </p:sp>
      <p:pic>
        <p:nvPicPr>
          <p:cNvPr id="15" name="Slika 14">
            <a:extLst>
              <a:ext uri="{FF2B5EF4-FFF2-40B4-BE49-F238E27FC236}">
                <a16:creationId xmlns:a16="http://schemas.microsoft.com/office/drawing/2014/main" id="{3C546FB9-DEF2-78C2-5819-887ACE862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89" y="1068473"/>
            <a:ext cx="7792408" cy="396980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Rukopis 2">
                <a:extLst>
                  <a:ext uri="{FF2B5EF4-FFF2-40B4-BE49-F238E27FC236}">
                    <a16:creationId xmlns:a16="http://schemas.microsoft.com/office/drawing/2014/main" id="{08DBEE57-2B5C-895C-719C-206A54125DA9}"/>
                  </a:ext>
                </a:extLst>
              </p14:cNvPr>
              <p14:cNvContentPartPr/>
              <p14:nvPr/>
            </p14:nvContentPartPr>
            <p14:xfrm>
              <a:off x="1728720" y="4083120"/>
              <a:ext cx="377640" cy="499680"/>
            </p14:xfrm>
          </p:contentPart>
        </mc:Choice>
        <mc:Fallback xmlns="">
          <p:pic>
            <p:nvPicPr>
              <p:cNvPr id="3" name="Rukopis 2">
                <a:extLst>
                  <a:ext uri="{FF2B5EF4-FFF2-40B4-BE49-F238E27FC236}">
                    <a16:creationId xmlns:a16="http://schemas.microsoft.com/office/drawing/2014/main" id="{08DBEE57-2B5C-895C-719C-206A54125DA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20080" y="4074120"/>
                <a:ext cx="395280" cy="51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Rukopis 3">
                <a:extLst>
                  <a:ext uri="{FF2B5EF4-FFF2-40B4-BE49-F238E27FC236}">
                    <a16:creationId xmlns:a16="http://schemas.microsoft.com/office/drawing/2014/main" id="{BCFB1BA7-463E-FDEA-0BCA-B2938E318B23}"/>
                  </a:ext>
                </a:extLst>
              </p14:cNvPr>
              <p14:cNvContentPartPr/>
              <p14:nvPr/>
            </p14:nvContentPartPr>
            <p14:xfrm>
              <a:off x="1341000" y="1996560"/>
              <a:ext cx="761760" cy="564840"/>
            </p14:xfrm>
          </p:contentPart>
        </mc:Choice>
        <mc:Fallback xmlns="">
          <p:pic>
            <p:nvPicPr>
              <p:cNvPr id="4" name="Rukopis 3">
                <a:extLst>
                  <a:ext uri="{FF2B5EF4-FFF2-40B4-BE49-F238E27FC236}">
                    <a16:creationId xmlns:a16="http://schemas.microsoft.com/office/drawing/2014/main" id="{BCFB1BA7-463E-FDEA-0BCA-B2938E318B2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32000" y="1987920"/>
                <a:ext cx="779400" cy="58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6" name="Rukopis 5">
                <a:extLst>
                  <a:ext uri="{FF2B5EF4-FFF2-40B4-BE49-F238E27FC236}">
                    <a16:creationId xmlns:a16="http://schemas.microsoft.com/office/drawing/2014/main" id="{3AFB62BE-8A19-7111-FF40-FD6661DD6081}"/>
                  </a:ext>
                </a:extLst>
              </p14:cNvPr>
              <p14:cNvContentPartPr/>
              <p14:nvPr/>
            </p14:nvContentPartPr>
            <p14:xfrm>
              <a:off x="1508400" y="3258360"/>
              <a:ext cx="190800" cy="333720"/>
            </p14:xfrm>
          </p:contentPart>
        </mc:Choice>
        <mc:Fallback xmlns="">
          <p:pic>
            <p:nvPicPr>
              <p:cNvPr id="6" name="Rukopis 5">
                <a:extLst>
                  <a:ext uri="{FF2B5EF4-FFF2-40B4-BE49-F238E27FC236}">
                    <a16:creationId xmlns:a16="http://schemas.microsoft.com/office/drawing/2014/main" id="{3AFB62BE-8A19-7111-FF40-FD6661DD608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499400" y="3249720"/>
                <a:ext cx="208440" cy="35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" name="Rukopis 6">
                <a:extLst>
                  <a:ext uri="{FF2B5EF4-FFF2-40B4-BE49-F238E27FC236}">
                    <a16:creationId xmlns:a16="http://schemas.microsoft.com/office/drawing/2014/main" id="{7616EFFA-7C57-BD96-0B80-ECDDEC38E07A}"/>
                  </a:ext>
                </a:extLst>
              </p14:cNvPr>
              <p14:cNvContentPartPr/>
              <p14:nvPr/>
            </p14:nvContentPartPr>
            <p14:xfrm>
              <a:off x="1317960" y="1186200"/>
              <a:ext cx="259920" cy="456120"/>
            </p14:xfrm>
          </p:contentPart>
        </mc:Choice>
        <mc:Fallback xmlns="">
          <p:pic>
            <p:nvPicPr>
              <p:cNvPr id="7" name="Rukopis 6">
                <a:extLst>
                  <a:ext uri="{FF2B5EF4-FFF2-40B4-BE49-F238E27FC236}">
                    <a16:creationId xmlns:a16="http://schemas.microsoft.com/office/drawing/2014/main" id="{7616EFFA-7C57-BD96-0B80-ECDDEC38E07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308960" y="1177200"/>
                <a:ext cx="277560" cy="47376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ekstniOkvir 7">
            <a:extLst>
              <a:ext uri="{FF2B5EF4-FFF2-40B4-BE49-F238E27FC236}">
                <a16:creationId xmlns:a16="http://schemas.microsoft.com/office/drawing/2014/main" id="{CC9F95BF-A3CF-5AB1-97D4-290FB7A53B70}"/>
              </a:ext>
            </a:extLst>
          </p:cNvPr>
          <p:cNvSpPr txBox="1"/>
          <p:nvPr/>
        </p:nvSpPr>
        <p:spPr>
          <a:xfrm>
            <a:off x="289560" y="4610624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DODAJ FILTER ZA STATISTIKU, u smislu sta ide na y os</a:t>
            </a:r>
          </a:p>
        </p:txBody>
      </p:sp>
    </p:spTree>
    <p:extLst>
      <p:ext uri="{BB962C8B-B14F-4D97-AF65-F5344CB8AC3E}">
        <p14:creationId xmlns:p14="http://schemas.microsoft.com/office/powerpoint/2010/main" val="2052448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23445-A650-3C3F-D74B-72BB5E3E6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553" y="387537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2.  Graph: player statistics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7" name="Rezervirano mjesto sadržaja 6">
            <a:extLst>
              <a:ext uri="{FF2B5EF4-FFF2-40B4-BE49-F238E27FC236}">
                <a16:creationId xmlns:a16="http://schemas.microsoft.com/office/drawing/2014/main" id="{D3F9943E-440F-6CDC-F06E-382B1A94E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r-HR" dirty="0"/>
          </a:p>
        </p:txBody>
      </p:sp>
      <p:pic>
        <p:nvPicPr>
          <p:cNvPr id="8" name="Slika 7">
            <a:extLst>
              <a:ext uri="{FF2B5EF4-FFF2-40B4-BE49-F238E27FC236}">
                <a16:creationId xmlns:a16="http://schemas.microsoft.com/office/drawing/2014/main" id="{736C0CC1-9937-9EDA-FE6C-5599C2B20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63842"/>
            <a:ext cx="9842770" cy="5775019"/>
          </a:xfrm>
          <a:prstGeom prst="rect">
            <a:avLst/>
          </a:prstGeom>
        </p:spPr>
      </p:pic>
      <p:sp>
        <p:nvSpPr>
          <p:cNvPr id="5" name="TekstniOkvir 4">
            <a:extLst>
              <a:ext uri="{FF2B5EF4-FFF2-40B4-BE49-F238E27FC236}">
                <a16:creationId xmlns:a16="http://schemas.microsoft.com/office/drawing/2014/main" id="{2561E9BD-BCE2-8B4B-4B87-19079223184B}"/>
              </a:ext>
            </a:extLst>
          </p:cNvPr>
          <p:cNvSpPr txBox="1"/>
          <p:nvPr/>
        </p:nvSpPr>
        <p:spPr>
          <a:xfrm>
            <a:off x="933855" y="4989122"/>
            <a:ext cx="69163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u="sng" dirty="0" err="1"/>
              <a:t>Questions</a:t>
            </a:r>
            <a:r>
              <a:rPr lang="hr-HR" dirty="0"/>
              <a:t>:</a:t>
            </a:r>
          </a:p>
          <a:p>
            <a:pPr marL="342900" indent="-342900">
              <a:buAutoNum type="arabicPeriod"/>
            </a:pPr>
            <a:r>
              <a:rPr lang="hr-HR" dirty="0"/>
              <a:t>How </a:t>
            </a:r>
            <a:r>
              <a:rPr lang="hr-HR" dirty="0" err="1"/>
              <a:t>many</a:t>
            </a:r>
            <a:r>
              <a:rPr lang="hr-HR" dirty="0"/>
              <a:t> </a:t>
            </a:r>
            <a:r>
              <a:rPr lang="hr-HR" dirty="0" err="1"/>
              <a:t>players</a:t>
            </a:r>
            <a:r>
              <a:rPr lang="hr-HR" dirty="0"/>
              <a:t> </a:t>
            </a:r>
            <a:r>
              <a:rPr lang="hr-HR" dirty="0" err="1"/>
              <a:t>that</a:t>
            </a:r>
            <a:r>
              <a:rPr lang="hr-HR" dirty="0"/>
              <a:t> are </a:t>
            </a:r>
            <a:r>
              <a:rPr lang="hr-HR" dirty="0" err="1"/>
              <a:t>shown</a:t>
            </a:r>
            <a:r>
              <a:rPr lang="hr-HR" dirty="0"/>
              <a:t> on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graph</a:t>
            </a:r>
            <a:r>
              <a:rPr lang="hr-HR" dirty="0"/>
              <a:t> had more </a:t>
            </a:r>
            <a:r>
              <a:rPr lang="hr-HR" dirty="0" err="1"/>
              <a:t>than</a:t>
            </a:r>
            <a:r>
              <a:rPr lang="hr-HR" dirty="0"/>
              <a:t> 6 </a:t>
            </a:r>
            <a:r>
              <a:rPr lang="hr-HR" dirty="0" err="1"/>
              <a:t>assists</a:t>
            </a:r>
            <a:r>
              <a:rPr lang="hr-HR" dirty="0"/>
              <a:t> </a:t>
            </a:r>
            <a:r>
              <a:rPr lang="hr-HR" dirty="0" err="1"/>
              <a:t>average</a:t>
            </a:r>
            <a:r>
              <a:rPr lang="hr-HR" dirty="0"/>
              <a:t> </a:t>
            </a:r>
            <a:r>
              <a:rPr lang="hr-HR" dirty="0" err="1"/>
              <a:t>in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last</a:t>
            </a:r>
            <a:r>
              <a:rPr lang="hr-HR" dirty="0"/>
              <a:t> </a:t>
            </a:r>
            <a:r>
              <a:rPr lang="hr-HR" dirty="0" err="1"/>
              <a:t>month</a:t>
            </a:r>
            <a:r>
              <a:rPr lang="hr-HR" dirty="0"/>
              <a:t>?</a:t>
            </a:r>
          </a:p>
          <a:p>
            <a:pPr marL="342900" indent="-342900">
              <a:buAutoNum type="arabicPeriod"/>
            </a:pPr>
            <a:r>
              <a:rPr lang="en-US" dirty="0"/>
              <a:t>Which player shows the most balanced performance across all five categories?</a:t>
            </a:r>
            <a:endParaRPr lang="hr-HR" dirty="0"/>
          </a:p>
        </p:txBody>
      </p:sp>
      <p:pic>
        <p:nvPicPr>
          <p:cNvPr id="10" name="Slika 9">
            <a:extLst>
              <a:ext uri="{FF2B5EF4-FFF2-40B4-BE49-F238E27FC236}">
                <a16:creationId xmlns:a16="http://schemas.microsoft.com/office/drawing/2014/main" id="{C1D9AD57-264A-3C8E-7436-E7F887DED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050318"/>
            <a:ext cx="6604445" cy="3876090"/>
          </a:xfrm>
          <a:prstGeom prst="rect">
            <a:avLst/>
          </a:prstGeom>
        </p:spPr>
      </p:pic>
      <p:grpSp>
        <p:nvGrpSpPr>
          <p:cNvPr id="12" name="Grupa 11">
            <a:extLst>
              <a:ext uri="{FF2B5EF4-FFF2-40B4-BE49-F238E27FC236}">
                <a16:creationId xmlns:a16="http://schemas.microsoft.com/office/drawing/2014/main" id="{32E14AD4-F882-621F-DD8E-6664DE3C101B}"/>
              </a:ext>
            </a:extLst>
          </p:cNvPr>
          <p:cNvGrpSpPr/>
          <p:nvPr/>
        </p:nvGrpSpPr>
        <p:grpSpPr>
          <a:xfrm>
            <a:off x="1069690" y="1065845"/>
            <a:ext cx="1000080" cy="2556360"/>
            <a:chOff x="1069690" y="1065845"/>
            <a:chExt cx="1000080" cy="255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Rukopis 2">
                  <a:extLst>
                    <a:ext uri="{FF2B5EF4-FFF2-40B4-BE49-F238E27FC236}">
                      <a16:creationId xmlns:a16="http://schemas.microsoft.com/office/drawing/2014/main" id="{7CBBA3D4-A6FF-65FA-ADE2-DD2C176E739C}"/>
                    </a:ext>
                  </a:extLst>
                </p14:cNvPr>
                <p14:cNvContentPartPr/>
                <p14:nvPr/>
              </p14:nvContentPartPr>
              <p14:xfrm>
                <a:off x="1497730" y="1065845"/>
                <a:ext cx="478080" cy="576360"/>
              </p14:xfrm>
            </p:contentPart>
          </mc:Choice>
          <mc:Fallback xmlns="">
            <p:pic>
              <p:nvPicPr>
                <p:cNvPr id="3" name="Rukopis 2">
                  <a:extLst>
                    <a:ext uri="{FF2B5EF4-FFF2-40B4-BE49-F238E27FC236}">
                      <a16:creationId xmlns:a16="http://schemas.microsoft.com/office/drawing/2014/main" id="{7CBBA3D4-A6FF-65FA-ADE2-DD2C176E739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489090" y="1057205"/>
                  <a:ext cx="495720" cy="59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Rukopis 3">
                  <a:extLst>
                    <a:ext uri="{FF2B5EF4-FFF2-40B4-BE49-F238E27FC236}">
                      <a16:creationId xmlns:a16="http://schemas.microsoft.com/office/drawing/2014/main" id="{939DF303-61F4-D12D-B4F2-1084BDE67F1E}"/>
                    </a:ext>
                  </a:extLst>
                </p14:cNvPr>
                <p14:cNvContentPartPr/>
                <p14:nvPr/>
              </p14:nvContentPartPr>
              <p14:xfrm>
                <a:off x="1682770" y="1902485"/>
                <a:ext cx="387000" cy="615960"/>
              </p14:xfrm>
            </p:contentPart>
          </mc:Choice>
          <mc:Fallback xmlns="">
            <p:pic>
              <p:nvPicPr>
                <p:cNvPr id="4" name="Rukopis 3">
                  <a:extLst>
                    <a:ext uri="{FF2B5EF4-FFF2-40B4-BE49-F238E27FC236}">
                      <a16:creationId xmlns:a16="http://schemas.microsoft.com/office/drawing/2014/main" id="{939DF303-61F4-D12D-B4F2-1084BDE67F1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673770" y="1893485"/>
                  <a:ext cx="404640" cy="63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Rukopis 5">
                  <a:extLst>
                    <a:ext uri="{FF2B5EF4-FFF2-40B4-BE49-F238E27FC236}">
                      <a16:creationId xmlns:a16="http://schemas.microsoft.com/office/drawing/2014/main" id="{76992652-DCE6-5423-D91C-E4C6EF320916}"/>
                    </a:ext>
                  </a:extLst>
                </p14:cNvPr>
                <p14:cNvContentPartPr/>
                <p14:nvPr/>
              </p14:nvContentPartPr>
              <p14:xfrm>
                <a:off x="1069690" y="2054765"/>
                <a:ext cx="382680" cy="668160"/>
              </p14:xfrm>
            </p:contentPart>
          </mc:Choice>
          <mc:Fallback xmlns="">
            <p:pic>
              <p:nvPicPr>
                <p:cNvPr id="6" name="Rukopis 5">
                  <a:extLst>
                    <a:ext uri="{FF2B5EF4-FFF2-40B4-BE49-F238E27FC236}">
                      <a16:creationId xmlns:a16="http://schemas.microsoft.com/office/drawing/2014/main" id="{76992652-DCE6-5423-D91C-E4C6EF32091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60690" y="2046125"/>
                  <a:ext cx="400320" cy="68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1" name="Rukopis 10">
                  <a:extLst>
                    <a:ext uri="{FF2B5EF4-FFF2-40B4-BE49-F238E27FC236}">
                      <a16:creationId xmlns:a16="http://schemas.microsoft.com/office/drawing/2014/main" id="{F74C1F07-50EF-D377-D69D-F48E27998A59}"/>
                    </a:ext>
                  </a:extLst>
                </p14:cNvPr>
                <p14:cNvContentPartPr/>
                <p14:nvPr/>
              </p14:nvContentPartPr>
              <p14:xfrm>
                <a:off x="1283890" y="2952245"/>
                <a:ext cx="492840" cy="669960"/>
              </p14:xfrm>
            </p:contentPart>
          </mc:Choice>
          <mc:Fallback xmlns="">
            <p:pic>
              <p:nvPicPr>
                <p:cNvPr id="11" name="Rukopis 10">
                  <a:extLst>
                    <a:ext uri="{FF2B5EF4-FFF2-40B4-BE49-F238E27FC236}">
                      <a16:creationId xmlns:a16="http://schemas.microsoft.com/office/drawing/2014/main" id="{F74C1F07-50EF-D377-D69D-F48E27998A5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274890" y="2943245"/>
                  <a:ext cx="510480" cy="68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upa 14">
            <a:extLst>
              <a:ext uri="{FF2B5EF4-FFF2-40B4-BE49-F238E27FC236}">
                <a16:creationId xmlns:a16="http://schemas.microsoft.com/office/drawing/2014/main" id="{7CC34747-1B2A-6421-A02E-EEBDDD8BB00F}"/>
              </a:ext>
            </a:extLst>
          </p:cNvPr>
          <p:cNvGrpSpPr/>
          <p:nvPr/>
        </p:nvGrpSpPr>
        <p:grpSpPr>
          <a:xfrm>
            <a:off x="6789370" y="436205"/>
            <a:ext cx="496440" cy="605520"/>
            <a:chOff x="6789370" y="436205"/>
            <a:chExt cx="496440" cy="60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3" name="Rukopis 12">
                  <a:extLst>
                    <a:ext uri="{FF2B5EF4-FFF2-40B4-BE49-F238E27FC236}">
                      <a16:creationId xmlns:a16="http://schemas.microsoft.com/office/drawing/2014/main" id="{466BF5D5-8E84-F74C-2DB9-CAF9A9014DBD}"/>
                    </a:ext>
                  </a:extLst>
                </p14:cNvPr>
                <p14:cNvContentPartPr/>
                <p14:nvPr/>
              </p14:nvContentPartPr>
              <p14:xfrm>
                <a:off x="6789370" y="467165"/>
                <a:ext cx="387720" cy="559440"/>
              </p14:xfrm>
            </p:contentPart>
          </mc:Choice>
          <mc:Fallback xmlns="">
            <p:pic>
              <p:nvPicPr>
                <p:cNvPr id="13" name="Rukopis 12">
                  <a:extLst>
                    <a:ext uri="{FF2B5EF4-FFF2-40B4-BE49-F238E27FC236}">
                      <a16:creationId xmlns:a16="http://schemas.microsoft.com/office/drawing/2014/main" id="{466BF5D5-8E84-F74C-2DB9-CAF9A9014DB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80730" y="458525"/>
                  <a:ext cx="405360" cy="57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Rukopis 13">
                  <a:extLst>
                    <a:ext uri="{FF2B5EF4-FFF2-40B4-BE49-F238E27FC236}">
                      <a16:creationId xmlns:a16="http://schemas.microsoft.com/office/drawing/2014/main" id="{D1490D2D-27CE-DE4C-7B5B-F86CFBD2D4EE}"/>
                    </a:ext>
                  </a:extLst>
                </p14:cNvPr>
                <p14:cNvContentPartPr/>
                <p14:nvPr/>
              </p14:nvContentPartPr>
              <p14:xfrm>
                <a:off x="6915730" y="436205"/>
                <a:ext cx="370080" cy="605520"/>
              </p14:xfrm>
            </p:contentPart>
          </mc:Choice>
          <mc:Fallback xmlns="">
            <p:pic>
              <p:nvPicPr>
                <p:cNvPr id="14" name="Rukopis 13">
                  <a:extLst>
                    <a:ext uri="{FF2B5EF4-FFF2-40B4-BE49-F238E27FC236}">
                      <a16:creationId xmlns:a16="http://schemas.microsoft.com/office/drawing/2014/main" id="{D1490D2D-27CE-DE4C-7B5B-F86CFBD2D4E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907090" y="427205"/>
                  <a:ext cx="387720" cy="623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33203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4D9B6-71D1-6064-8306-7E99C8BF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171" y="454772"/>
            <a:ext cx="10829364" cy="1863446"/>
          </a:xfrm>
        </p:spPr>
        <p:txBody>
          <a:bodyPr/>
          <a:lstStyle/>
          <a:p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3.  Graph: clutch factor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Rezervirano mjesto sadržaja 5">
            <a:extLst>
              <a:ext uri="{FF2B5EF4-FFF2-40B4-BE49-F238E27FC236}">
                <a16:creationId xmlns:a16="http://schemas.microsoft.com/office/drawing/2014/main" id="{0D5BC977-9BF0-71EA-7F71-B4971877CF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0879" y="1134157"/>
            <a:ext cx="11514693" cy="5603132"/>
          </a:xfrm>
          <a:prstGeom prst="rect">
            <a:avLst/>
          </a:prstGeom>
        </p:spPr>
      </p:pic>
      <p:pic>
        <p:nvPicPr>
          <p:cNvPr id="7" name="Slika 6">
            <a:extLst>
              <a:ext uri="{FF2B5EF4-FFF2-40B4-BE49-F238E27FC236}">
                <a16:creationId xmlns:a16="http://schemas.microsoft.com/office/drawing/2014/main" id="{DB5F3715-CA1E-6E36-D49E-094D74F70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98" y="1113040"/>
            <a:ext cx="8188634" cy="3984254"/>
          </a:xfrm>
          <a:prstGeom prst="rect">
            <a:avLst/>
          </a:prstGeom>
        </p:spPr>
      </p:pic>
      <p:sp>
        <p:nvSpPr>
          <p:cNvPr id="8" name="TekstniOkvir 7">
            <a:extLst>
              <a:ext uri="{FF2B5EF4-FFF2-40B4-BE49-F238E27FC236}">
                <a16:creationId xmlns:a16="http://schemas.microsoft.com/office/drawing/2014/main" id="{C2F4F130-E4D0-551A-15EA-4F3E7EEA7E2D}"/>
              </a:ext>
            </a:extLst>
          </p:cNvPr>
          <p:cNvSpPr txBox="1"/>
          <p:nvPr/>
        </p:nvSpPr>
        <p:spPr>
          <a:xfrm>
            <a:off x="778213" y="5029200"/>
            <a:ext cx="7694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u="sng" dirty="0" err="1"/>
              <a:t>Questions</a:t>
            </a:r>
            <a:r>
              <a:rPr lang="hr-HR" dirty="0"/>
              <a:t>:</a:t>
            </a:r>
          </a:p>
          <a:p>
            <a:pPr marL="342900" indent="-342900">
              <a:buAutoNum type="arabicPeriod"/>
            </a:pPr>
            <a:r>
              <a:rPr lang="en-US" dirty="0"/>
              <a:t>Which player has the highest win percentage in clutch games?</a:t>
            </a:r>
            <a:endParaRPr lang="hr-HR" dirty="0"/>
          </a:p>
          <a:p>
            <a:pPr marL="342900" indent="-342900">
              <a:buAutoNum type="arabicPeriod"/>
            </a:pPr>
            <a:r>
              <a:rPr lang="en-US" dirty="0"/>
              <a:t>Among players with more than 25 PPG in clutch games, who has the lowest </a:t>
            </a:r>
            <a:r>
              <a:rPr lang="hr-HR" dirty="0" err="1"/>
              <a:t>field</a:t>
            </a:r>
            <a:r>
              <a:rPr lang="hr-HR" dirty="0"/>
              <a:t> </a:t>
            </a:r>
            <a:r>
              <a:rPr lang="hr-HR" dirty="0" err="1"/>
              <a:t>goal</a:t>
            </a:r>
            <a:r>
              <a:rPr lang="en-US" dirty="0"/>
              <a:t> percentage?</a:t>
            </a:r>
            <a:endParaRPr lang="hr-HR" dirty="0"/>
          </a:p>
        </p:txBody>
      </p:sp>
      <p:grpSp>
        <p:nvGrpSpPr>
          <p:cNvPr id="5" name="Grupa 4">
            <a:extLst>
              <a:ext uri="{FF2B5EF4-FFF2-40B4-BE49-F238E27FC236}">
                <a16:creationId xmlns:a16="http://schemas.microsoft.com/office/drawing/2014/main" id="{006B41BB-C466-93CB-B431-82DF253954CE}"/>
              </a:ext>
            </a:extLst>
          </p:cNvPr>
          <p:cNvGrpSpPr/>
          <p:nvPr/>
        </p:nvGrpSpPr>
        <p:grpSpPr>
          <a:xfrm>
            <a:off x="1118290" y="2771525"/>
            <a:ext cx="787680" cy="1510920"/>
            <a:chOff x="1118290" y="2771525"/>
            <a:chExt cx="787680" cy="151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Rukopis 2">
                  <a:extLst>
                    <a:ext uri="{FF2B5EF4-FFF2-40B4-BE49-F238E27FC236}">
                      <a16:creationId xmlns:a16="http://schemas.microsoft.com/office/drawing/2014/main" id="{E186BE4F-970C-4355-2395-37F62FE57386}"/>
                    </a:ext>
                  </a:extLst>
                </p14:cNvPr>
                <p14:cNvContentPartPr/>
                <p14:nvPr/>
              </p14:nvContentPartPr>
              <p14:xfrm>
                <a:off x="1118290" y="2771525"/>
                <a:ext cx="476640" cy="567360"/>
              </p14:xfrm>
            </p:contentPart>
          </mc:Choice>
          <mc:Fallback>
            <p:pic>
              <p:nvPicPr>
                <p:cNvPr id="3" name="Rukopis 2">
                  <a:extLst>
                    <a:ext uri="{FF2B5EF4-FFF2-40B4-BE49-F238E27FC236}">
                      <a16:creationId xmlns:a16="http://schemas.microsoft.com/office/drawing/2014/main" id="{E186BE4F-970C-4355-2395-37F62FE5738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09290" y="2762885"/>
                  <a:ext cx="494280" cy="58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Rukopis 3">
                  <a:extLst>
                    <a:ext uri="{FF2B5EF4-FFF2-40B4-BE49-F238E27FC236}">
                      <a16:creationId xmlns:a16="http://schemas.microsoft.com/office/drawing/2014/main" id="{7F95DF75-56D6-8F22-DEFF-F0351258DFBA}"/>
                    </a:ext>
                  </a:extLst>
                </p14:cNvPr>
                <p14:cNvContentPartPr/>
                <p14:nvPr/>
              </p14:nvContentPartPr>
              <p14:xfrm>
                <a:off x="1322770" y="3432125"/>
                <a:ext cx="583200" cy="850320"/>
              </p14:xfrm>
            </p:contentPart>
          </mc:Choice>
          <mc:Fallback>
            <p:pic>
              <p:nvPicPr>
                <p:cNvPr id="4" name="Rukopis 3">
                  <a:extLst>
                    <a:ext uri="{FF2B5EF4-FFF2-40B4-BE49-F238E27FC236}">
                      <a16:creationId xmlns:a16="http://schemas.microsoft.com/office/drawing/2014/main" id="{7F95DF75-56D6-8F22-DEFF-F0351258DFB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14130" y="3423125"/>
                  <a:ext cx="600840" cy="867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49340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228</Words>
  <Application>Microsoft Office PowerPoint</Application>
  <PresentationFormat>Široki zaslon</PresentationFormat>
  <Paragraphs>28</Paragraphs>
  <Slides>5</Slides>
  <Notes>1</Notes>
  <HiddenSlides>0</HiddenSlides>
  <MMClips>0</MMClips>
  <ScaleCrop>false</ScaleCrop>
  <HeadingPairs>
    <vt:vector size="6" baseType="variant">
      <vt:variant>
        <vt:lpstr>Korišteni fontovi</vt:lpstr>
      </vt:variant>
      <vt:variant>
        <vt:i4>3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sustava Office</vt:lpstr>
      <vt:lpstr>NBA betting insights</vt:lpstr>
      <vt:lpstr>🏀  Project goal</vt:lpstr>
      <vt:lpstr>Graph: team points trend</vt:lpstr>
      <vt:lpstr>2.  Graph: player statistics </vt:lpstr>
      <vt:lpstr>3.  Graph: clutch factor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Luka Zuanović</cp:lastModifiedBy>
  <cp:revision>37</cp:revision>
  <dcterms:created xsi:type="dcterms:W3CDTF">2025-10-19T17:17:09Z</dcterms:created>
  <dcterms:modified xsi:type="dcterms:W3CDTF">2025-11-24T02:21:26Z</dcterms:modified>
</cp:coreProperties>
</file>