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1_6FA096D8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78F719-919F-E3F1-2C46-0EC500D726E7}" name="Luka Zuanovic" initials="LZ" userId="S::luka.zuanovic@ua.pt::25f85935-9e84-4d32-aa3d-6a40b92e9f8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726E5-E3B8-4899-BC32-299507C93740}" v="188" dt="2025-10-20T12:07:28.059"/>
    <p1510:client id="{908C6947-4AC5-013C-E94F-5314F2677027}" v="48" dt="2025-10-19T19:06:54.329"/>
    <p1510:client id="{9A5AE58A-3019-61E2-C57C-3A06323A5607}" v="15" dt="2025-10-19T19:04:49.120"/>
    <p1510:client id="{D68D906D-42C6-6753-BD9E-5A51290E784A}" v="209" dt="2025-10-19T18:25:56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a Zuanović" userId="1d390c9c-2e7e-452a-af11-11727cc65367" providerId="ADAL" clId="{C78747B7-A0FA-4FB6-82A3-4E8F2D03FF44}"/>
    <pc:docChg chg="custSel modSld">
      <pc:chgData name="Luka Zuanović" userId="1d390c9c-2e7e-452a-af11-11727cc65367" providerId="ADAL" clId="{C78747B7-A0FA-4FB6-82A3-4E8F2D03FF44}" dt="2025-10-20T14:03:22.466" v="615" actId="20577"/>
      <pc:docMkLst>
        <pc:docMk/>
      </pc:docMkLst>
      <pc:sldChg chg="modSp mod">
        <pc:chgData name="Luka Zuanović" userId="1d390c9c-2e7e-452a-af11-11727cc65367" providerId="ADAL" clId="{C78747B7-A0FA-4FB6-82A3-4E8F2D03FF44}" dt="2025-10-20T14:03:22.466" v="615" actId="20577"/>
        <pc:sldMkLst>
          <pc:docMk/>
          <pc:sldMk cId="1872795352" sldId="257"/>
        </pc:sldMkLst>
        <pc:spChg chg="mod">
          <ac:chgData name="Luka Zuanović" userId="1d390c9c-2e7e-452a-af11-11727cc65367" providerId="ADAL" clId="{C78747B7-A0FA-4FB6-82A3-4E8F2D03FF44}" dt="2025-10-20T14:03:22.466" v="615" actId="20577"/>
          <ac:spMkLst>
            <pc:docMk/>
            <pc:sldMk cId="1872795352" sldId="257"/>
            <ac:spMk id="3" creationId="{8B840BEA-8A69-6665-1EF3-E40CE2E0546A}"/>
          </ac:spMkLst>
        </pc:spChg>
      </pc:sldChg>
      <pc:sldChg chg="addSp delSp modSp mod delAnim modAnim">
        <pc:chgData name="Luka Zuanović" userId="1d390c9c-2e7e-452a-af11-11727cc65367" providerId="ADAL" clId="{C78747B7-A0FA-4FB6-82A3-4E8F2D03FF44}" dt="2025-10-20T12:01:13.435" v="475" actId="1076"/>
        <pc:sldMkLst>
          <pc:docMk/>
          <pc:sldMk cId="2052448907" sldId="258"/>
        </pc:sldMkLst>
        <pc:spChg chg="add mod ord">
          <ac:chgData name="Luka Zuanović" userId="1d390c9c-2e7e-452a-af11-11727cc65367" providerId="ADAL" clId="{C78747B7-A0FA-4FB6-82A3-4E8F2D03FF44}" dt="2025-10-20T11:59:07.845" v="454" actId="14100"/>
          <ac:spMkLst>
            <pc:docMk/>
            <pc:sldMk cId="2052448907" sldId="258"/>
            <ac:spMk id="5" creationId="{2869A6DB-AACD-B4A7-DDDF-0C9B88A658EE}"/>
          </ac:spMkLst>
        </pc:spChg>
        <pc:spChg chg="add del mod">
          <ac:chgData name="Luka Zuanović" userId="1d390c9c-2e7e-452a-af11-11727cc65367" providerId="ADAL" clId="{C78747B7-A0FA-4FB6-82A3-4E8F2D03FF44}" dt="2025-10-20T11:57:47.733" v="434"/>
          <ac:spMkLst>
            <pc:docMk/>
            <pc:sldMk cId="2052448907" sldId="258"/>
            <ac:spMk id="7" creationId="{9C8ECE09-7258-3BE0-DD34-98E3E4E03AAB}"/>
          </ac:spMkLst>
        </pc:spChg>
        <pc:spChg chg="add del mod">
          <ac:chgData name="Luka Zuanović" userId="1d390c9c-2e7e-452a-af11-11727cc65367" providerId="ADAL" clId="{C78747B7-A0FA-4FB6-82A3-4E8F2D03FF44}" dt="2025-10-20T11:57:59.062" v="436"/>
          <ac:spMkLst>
            <pc:docMk/>
            <pc:sldMk cId="2052448907" sldId="258"/>
            <ac:spMk id="10" creationId="{BA62F084-8ED5-F4E4-2B5F-917522C4FDDD}"/>
          </ac:spMkLst>
        </pc:spChg>
        <pc:spChg chg="add del mod">
          <ac:chgData name="Luka Zuanović" userId="1d390c9c-2e7e-452a-af11-11727cc65367" providerId="ADAL" clId="{C78747B7-A0FA-4FB6-82A3-4E8F2D03FF44}" dt="2025-10-20T11:58:06.730" v="438"/>
          <ac:spMkLst>
            <pc:docMk/>
            <pc:sldMk cId="2052448907" sldId="258"/>
            <ac:spMk id="13" creationId="{AF02895F-ABFA-74FE-1B3F-91487C0AF049}"/>
          </ac:spMkLst>
        </pc:spChg>
        <pc:picChg chg="add del mod">
          <ac:chgData name="Luka Zuanović" userId="1d390c9c-2e7e-452a-af11-11727cc65367" providerId="ADAL" clId="{C78747B7-A0FA-4FB6-82A3-4E8F2D03FF44}" dt="2025-10-20T11:57:45.805" v="433" actId="21"/>
          <ac:picMkLst>
            <pc:docMk/>
            <pc:sldMk cId="2052448907" sldId="258"/>
            <ac:picMk id="3" creationId="{025CE521-F6DD-9EB2-9061-2FFF56A04EED}"/>
          </ac:picMkLst>
        </pc:picChg>
        <pc:picChg chg="del mod">
          <ac:chgData name="Luka Zuanović" userId="1d390c9c-2e7e-452a-af11-11727cc65367" providerId="ADAL" clId="{C78747B7-A0FA-4FB6-82A3-4E8F2D03FF44}" dt="2025-10-20T11:57:42.665" v="432" actId="21"/>
          <ac:picMkLst>
            <pc:docMk/>
            <pc:sldMk cId="2052448907" sldId="258"/>
            <ac:picMk id="4" creationId="{C28DF686-1EDC-A548-CBAD-F3A41D026945}"/>
          </ac:picMkLst>
        </pc:picChg>
        <pc:picChg chg="add del mod">
          <ac:chgData name="Luka Zuanović" userId="1d390c9c-2e7e-452a-af11-11727cc65367" providerId="ADAL" clId="{C78747B7-A0FA-4FB6-82A3-4E8F2D03FF44}" dt="2025-10-20T11:57:57.776" v="435" actId="21"/>
          <ac:picMkLst>
            <pc:docMk/>
            <pc:sldMk cId="2052448907" sldId="258"/>
            <ac:picMk id="8" creationId="{A3D0C30A-2927-FD87-6929-62F7DAB3B2B9}"/>
          </ac:picMkLst>
        </pc:picChg>
        <pc:picChg chg="add del mod">
          <ac:chgData name="Luka Zuanović" userId="1d390c9c-2e7e-452a-af11-11727cc65367" providerId="ADAL" clId="{C78747B7-A0FA-4FB6-82A3-4E8F2D03FF44}" dt="2025-10-20T11:58:01.321" v="437" actId="21"/>
          <ac:picMkLst>
            <pc:docMk/>
            <pc:sldMk cId="2052448907" sldId="258"/>
            <ac:picMk id="11" creationId="{91F9C084-7D19-ECB1-99A5-BD6A767D0069}"/>
          </ac:picMkLst>
        </pc:picChg>
        <pc:picChg chg="add mod">
          <ac:chgData name="Luka Zuanović" userId="1d390c9c-2e7e-452a-af11-11727cc65367" providerId="ADAL" clId="{C78747B7-A0FA-4FB6-82A3-4E8F2D03FF44}" dt="2025-10-20T12:00:32.057" v="468" actId="1076"/>
          <ac:picMkLst>
            <pc:docMk/>
            <pc:sldMk cId="2052448907" sldId="258"/>
            <ac:picMk id="14" creationId="{DB5972AA-615F-A9FA-0B52-C4BB448722F1}"/>
          </ac:picMkLst>
        </pc:picChg>
        <pc:picChg chg="add mod">
          <ac:chgData name="Luka Zuanović" userId="1d390c9c-2e7e-452a-af11-11727cc65367" providerId="ADAL" clId="{C78747B7-A0FA-4FB6-82A3-4E8F2D03FF44}" dt="2025-10-20T12:01:13.435" v="475" actId="1076"/>
          <ac:picMkLst>
            <pc:docMk/>
            <pc:sldMk cId="2052448907" sldId="258"/>
            <ac:picMk id="15" creationId="{3C546FB9-DEF2-78C2-5819-887ACE862F0F}"/>
          </ac:picMkLst>
        </pc:picChg>
      </pc:sldChg>
      <pc:sldChg chg="addSp delSp modSp mod delAnim modAnim">
        <pc:chgData name="Luka Zuanović" userId="1d390c9c-2e7e-452a-af11-11727cc65367" providerId="ADAL" clId="{C78747B7-A0FA-4FB6-82A3-4E8F2D03FF44}" dt="2025-10-20T12:09:06.381" v="551" actId="1036"/>
        <pc:sldMkLst>
          <pc:docMk/>
          <pc:sldMk cId="1133203939" sldId="259"/>
        </pc:sldMkLst>
        <pc:spChg chg="add del mod">
          <ac:chgData name="Luka Zuanović" userId="1d390c9c-2e7e-452a-af11-11727cc65367" providerId="ADAL" clId="{C78747B7-A0FA-4FB6-82A3-4E8F2D03FF44}" dt="2025-10-20T11:45:50.619" v="310"/>
          <ac:spMkLst>
            <pc:docMk/>
            <pc:sldMk cId="1133203939" sldId="259"/>
            <ac:spMk id="4" creationId="{20203FC1-2E17-121F-B1DA-069C8C5E5EDE}"/>
          </ac:spMkLst>
        </pc:spChg>
        <pc:spChg chg="add mod ord">
          <ac:chgData name="Luka Zuanović" userId="1d390c9c-2e7e-452a-af11-11727cc65367" providerId="ADAL" clId="{C78747B7-A0FA-4FB6-82A3-4E8F2D03FF44}" dt="2025-10-20T12:02:03.842" v="482" actId="170"/>
          <ac:spMkLst>
            <pc:docMk/>
            <pc:sldMk cId="1133203939" sldId="259"/>
            <ac:spMk id="5" creationId="{2561E9BD-BCE2-8B4B-4B87-19079223184B}"/>
          </ac:spMkLst>
        </pc:spChg>
        <pc:spChg chg="add mod">
          <ac:chgData name="Luka Zuanović" userId="1d390c9c-2e7e-452a-af11-11727cc65367" providerId="ADAL" clId="{C78747B7-A0FA-4FB6-82A3-4E8F2D03FF44}" dt="2025-10-20T12:01:35.154" v="477" actId="21"/>
          <ac:spMkLst>
            <pc:docMk/>
            <pc:sldMk cId="1133203939" sldId="259"/>
            <ac:spMk id="7" creationId="{D3F9943E-440F-6CDC-F06E-382B1A94E552}"/>
          </ac:spMkLst>
        </pc:spChg>
        <pc:picChg chg="add del mod">
          <ac:chgData name="Luka Zuanović" userId="1d390c9c-2e7e-452a-af11-11727cc65367" providerId="ADAL" clId="{C78747B7-A0FA-4FB6-82A3-4E8F2D03FF44}" dt="2025-10-20T12:01:33.208" v="476" actId="21"/>
          <ac:picMkLst>
            <pc:docMk/>
            <pc:sldMk cId="1133203939" sldId="259"/>
            <ac:picMk id="3" creationId="{B0CCE622-B0EC-FC46-98F6-1ACB2E05C46C}"/>
          </ac:picMkLst>
        </pc:picChg>
        <pc:picChg chg="add mod">
          <ac:chgData name="Luka Zuanović" userId="1d390c9c-2e7e-452a-af11-11727cc65367" providerId="ADAL" clId="{C78747B7-A0FA-4FB6-82A3-4E8F2D03FF44}" dt="2025-10-20T12:09:06.381" v="551" actId="1036"/>
          <ac:picMkLst>
            <pc:docMk/>
            <pc:sldMk cId="1133203939" sldId="259"/>
            <ac:picMk id="8" creationId="{736C0CC1-9937-9EDA-FE6C-5599C2B20E4C}"/>
          </ac:picMkLst>
        </pc:picChg>
        <pc:picChg chg="del">
          <ac:chgData name="Luka Zuanović" userId="1d390c9c-2e7e-452a-af11-11727cc65367" providerId="ADAL" clId="{C78747B7-A0FA-4FB6-82A3-4E8F2D03FF44}" dt="2025-10-20T12:01:35.154" v="477" actId="21"/>
          <ac:picMkLst>
            <pc:docMk/>
            <pc:sldMk cId="1133203939" sldId="259"/>
            <ac:picMk id="9" creationId="{D6AC4876-18DF-DB09-8BA8-9492BF3F3191}"/>
          </ac:picMkLst>
        </pc:picChg>
        <pc:picChg chg="add mod">
          <ac:chgData name="Luka Zuanović" userId="1d390c9c-2e7e-452a-af11-11727cc65367" providerId="ADAL" clId="{C78747B7-A0FA-4FB6-82A3-4E8F2D03FF44}" dt="2025-10-20T12:02:30.639" v="488" actId="1076"/>
          <ac:picMkLst>
            <pc:docMk/>
            <pc:sldMk cId="1133203939" sldId="259"/>
            <ac:picMk id="10" creationId="{C1D9AD57-264A-3C8E-7436-E7F887DED0A9}"/>
          </ac:picMkLst>
        </pc:picChg>
      </pc:sldChg>
      <pc:sldChg chg="addSp delSp modSp mod modAnim">
        <pc:chgData name="Luka Zuanović" userId="1d390c9c-2e7e-452a-af11-11727cc65367" providerId="ADAL" clId="{C78747B7-A0FA-4FB6-82A3-4E8F2D03FF44}" dt="2025-10-20T12:07:55.545" v="536" actId="14100"/>
        <pc:sldMkLst>
          <pc:docMk/>
          <pc:sldMk cId="4049340731" sldId="260"/>
        </pc:sldMkLst>
        <pc:spChg chg="add del mod">
          <ac:chgData name="Luka Zuanović" userId="1d390c9c-2e7e-452a-af11-11727cc65367" providerId="ADAL" clId="{C78747B7-A0FA-4FB6-82A3-4E8F2D03FF44}" dt="2025-10-20T12:03:26.340" v="494"/>
          <ac:spMkLst>
            <pc:docMk/>
            <pc:sldMk cId="4049340731" sldId="260"/>
            <ac:spMk id="4" creationId="{31551866-E7CA-D87B-D8EE-5F5E795DFDD6}"/>
          </ac:spMkLst>
        </pc:spChg>
        <pc:spChg chg="add mod">
          <ac:chgData name="Luka Zuanović" userId="1d390c9c-2e7e-452a-af11-11727cc65367" providerId="ADAL" clId="{C78747B7-A0FA-4FB6-82A3-4E8F2D03FF44}" dt="2025-10-20T12:07:28.059" v="535" actId="20577"/>
          <ac:spMkLst>
            <pc:docMk/>
            <pc:sldMk cId="4049340731" sldId="260"/>
            <ac:spMk id="8" creationId="{C2F4F130-E4D0-551A-15EA-4F3E7EEA7E2D}"/>
          </ac:spMkLst>
        </pc:spChg>
        <pc:picChg chg="del">
          <ac:chgData name="Luka Zuanović" userId="1d390c9c-2e7e-452a-af11-11727cc65367" providerId="ADAL" clId="{C78747B7-A0FA-4FB6-82A3-4E8F2D03FF44}" dt="2025-10-20T12:03:13.806" v="493" actId="21"/>
          <ac:picMkLst>
            <pc:docMk/>
            <pc:sldMk cId="4049340731" sldId="260"/>
            <ac:picMk id="5" creationId="{1236C2F9-C994-591E-0B64-0299805CBEC4}"/>
          </ac:picMkLst>
        </pc:picChg>
        <pc:picChg chg="add mod">
          <ac:chgData name="Luka Zuanović" userId="1d390c9c-2e7e-452a-af11-11727cc65367" providerId="ADAL" clId="{C78747B7-A0FA-4FB6-82A3-4E8F2D03FF44}" dt="2025-10-20T12:03:59.730" v="503" actId="1076"/>
          <ac:picMkLst>
            <pc:docMk/>
            <pc:sldMk cId="4049340731" sldId="260"/>
            <ac:picMk id="6" creationId="{0D5BC977-9BF0-71EA-7F71-B4971877CF24}"/>
          </ac:picMkLst>
        </pc:picChg>
        <pc:picChg chg="add mod">
          <ac:chgData name="Luka Zuanović" userId="1d390c9c-2e7e-452a-af11-11727cc65367" providerId="ADAL" clId="{C78747B7-A0FA-4FB6-82A3-4E8F2D03FF44}" dt="2025-10-20T12:07:55.545" v="536" actId="14100"/>
          <ac:picMkLst>
            <pc:docMk/>
            <pc:sldMk cId="4049340731" sldId="260"/>
            <ac:picMk id="7" creationId="{DB5F3715-CA1E-6E36-D49E-094D74F707FE}"/>
          </ac:picMkLst>
        </pc:picChg>
      </pc:sldChg>
    </pc:docChg>
  </pc:docChgLst>
</pc:chgInfo>
</file>

<file path=ppt/comments/modernComment_101_6FA096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C8EB66-D97C-4540-BA48-1D02B19282EE}" authorId="{8678F719-919F-E3F1-2C46-0EC500D726E7}" created="2025-10-19T17:33:25.677">
    <pc:sldMkLst xmlns:pc="http://schemas.microsoft.com/office/powerpoint/2013/main/command">
      <pc:docMk/>
      <pc:sldMk cId="1872795352" sldId="257"/>
    </pc:sldMkLst>
    <p188:txBody>
      <a:bodyPr/>
      <a:lstStyle/>
      <a:p>
        <a:r>
          <a:rPr lang="en-US"/>
          <a:t>1. The goal of our project is to build an interactive NBA data visualization system that helps users - especially basketball fans and sports bettors - better understand trends, performance metrics, and probabilities.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9599A-F55A-43CD-BD42-27C7A89EA2FB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ADE8A-0D1C-4207-9305-34D1513655E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6239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Uredite stil podnaslova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567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970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odj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821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3178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4807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971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3795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856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209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2097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760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1FB43-724D-437A-A5E8-1D673BA80D2D}" type="datetimeFigureOut">
              <a:rPr lang="hr-HR" smtClean="0"/>
              <a:t>24.11.2025.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852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6FA096D8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eoinamoore/historical-nba-data-and-player-box-scores/data" TargetMode="External"/><Relationship Id="rId2" Type="http://schemas.openxmlformats.org/officeDocument/2006/relationships/hyperlink" Target="https://www.kaggle.com/datasets/wyattowalsh/basketbal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305 Dark Basketball Court Stock Videos, Footage, &amp; 4K Video Clips - Getty  Images | Dark basketball court no people">
            <a:extLst>
              <a:ext uri="{FF2B5EF4-FFF2-40B4-BE49-F238E27FC236}">
                <a16:creationId xmlns:a16="http://schemas.microsoft.com/office/drawing/2014/main" id="{DF1839B8-75EA-13CE-CE86-484BF52DA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458585" y="2785410"/>
            <a:ext cx="10058400" cy="99742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hr-HR" sz="5200" dirty="0" err="1">
                <a:solidFill>
                  <a:srgbClr val="FFFFFF"/>
                </a:solidFill>
                <a:ea typeface="+mj-lt"/>
                <a:cs typeface="+mj-lt"/>
              </a:rPr>
              <a:t>NbetA</a:t>
            </a:r>
            <a:endParaRPr lang="en-US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3229168" y="4240131"/>
            <a:ext cx="10058400" cy="187661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hr-HR" sz="2000" b="1" dirty="0" err="1">
                <a:solidFill>
                  <a:schemeClr val="bg1"/>
                </a:solidFill>
              </a:rPr>
              <a:t>Presented</a:t>
            </a:r>
            <a:r>
              <a:rPr lang="hr-HR" sz="2000" b="1" dirty="0">
                <a:solidFill>
                  <a:schemeClr val="bg1"/>
                </a:solidFill>
              </a:rPr>
              <a:t> </a:t>
            </a:r>
            <a:r>
              <a:rPr lang="hr-HR" sz="2000" b="1" dirty="0" err="1">
                <a:solidFill>
                  <a:schemeClr val="bg1"/>
                </a:solidFill>
              </a:rPr>
              <a:t>by</a:t>
            </a:r>
            <a:r>
              <a:rPr lang="hr-HR" sz="2000" b="1" dirty="0">
                <a:solidFill>
                  <a:schemeClr val="bg1"/>
                </a:solidFill>
              </a:rPr>
              <a:t>: </a:t>
            </a:r>
            <a:r>
              <a:rPr lang="hr-HR" sz="2000" dirty="0">
                <a:solidFill>
                  <a:schemeClr val="bg1"/>
                </a:solidFill>
              </a:rPr>
              <a:t>Luka </a:t>
            </a:r>
            <a:r>
              <a:rPr lang="hr-HR" sz="2000" dirty="0" err="1">
                <a:solidFill>
                  <a:schemeClr val="bg1"/>
                </a:solidFill>
              </a:rPr>
              <a:t>Zuanović</a:t>
            </a:r>
            <a:r>
              <a:rPr lang="hr-HR" sz="2000" dirty="0">
                <a:solidFill>
                  <a:schemeClr val="bg1"/>
                </a:solidFill>
              </a:rPr>
              <a:t> (130275) Computer </a:t>
            </a:r>
            <a:r>
              <a:rPr lang="hr-HR" sz="2000" dirty="0" err="1">
                <a:solidFill>
                  <a:schemeClr val="bg1"/>
                </a:solidFill>
              </a:rPr>
              <a:t>Engineering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hr-HR" sz="2000" dirty="0">
                <a:solidFill>
                  <a:schemeClr val="bg1"/>
                </a:solidFill>
              </a:rPr>
              <a:t>                               Marko Pongrac (130288) Data Science</a:t>
            </a:r>
          </a:p>
          <a:p>
            <a:pPr algn="l"/>
            <a:r>
              <a:rPr lang="hr-HR" sz="2000" b="1" dirty="0" err="1">
                <a:solidFill>
                  <a:schemeClr val="bg1"/>
                </a:solidFill>
              </a:rPr>
              <a:t>Course</a:t>
            </a:r>
            <a:r>
              <a:rPr lang="hr-HR" sz="2000" b="1" dirty="0">
                <a:solidFill>
                  <a:schemeClr val="bg1"/>
                </a:solidFill>
              </a:rPr>
              <a:t>:</a:t>
            </a:r>
            <a:r>
              <a:rPr lang="hr-HR" sz="2000" dirty="0">
                <a:solidFill>
                  <a:schemeClr val="bg1"/>
                </a:solidFill>
              </a:rPr>
              <a:t> </a:t>
            </a:r>
            <a:r>
              <a:rPr lang="hr-HR" sz="2000" dirty="0" err="1">
                <a:solidFill>
                  <a:schemeClr val="bg1"/>
                </a:solidFill>
              </a:rPr>
              <a:t>Information</a:t>
            </a:r>
            <a:r>
              <a:rPr lang="hr-HR" sz="2000" dirty="0">
                <a:solidFill>
                  <a:schemeClr val="bg1"/>
                </a:solidFill>
              </a:rPr>
              <a:t> </a:t>
            </a:r>
            <a:r>
              <a:rPr lang="hr-HR" sz="2000" dirty="0" err="1">
                <a:solidFill>
                  <a:schemeClr val="bg1"/>
                </a:solidFill>
              </a:rPr>
              <a:t>Visualization</a:t>
            </a:r>
            <a:r>
              <a:rPr lang="hr-HR" sz="2000" dirty="0">
                <a:solidFill>
                  <a:schemeClr val="bg1"/>
                </a:solidFill>
              </a:rPr>
              <a:t> </a:t>
            </a:r>
          </a:p>
          <a:p>
            <a:pPr algn="l"/>
            <a:r>
              <a:rPr lang="hr-HR" sz="2000" b="1" dirty="0">
                <a:solidFill>
                  <a:schemeClr val="bg1"/>
                </a:solidFill>
              </a:rPr>
              <a:t>Date:</a:t>
            </a:r>
            <a:r>
              <a:rPr lang="hr-HR" sz="2000" dirty="0">
                <a:solidFill>
                  <a:schemeClr val="bg1"/>
                </a:solidFill>
              </a:rPr>
              <a:t> 24.11.2025.</a:t>
            </a:r>
          </a:p>
          <a:p>
            <a:endParaRPr lang="hr-HR" sz="2000" dirty="0">
              <a:solidFill>
                <a:schemeClr val="bg1"/>
              </a:solidFill>
            </a:endParaRPr>
          </a:p>
        </p:txBody>
      </p:sp>
      <p:pic>
        <p:nvPicPr>
          <p:cNvPr id="5" name="Picture 4" descr="NBA Logo PNG Transparent &amp; SVG Vector - Freebie Supply">
            <a:extLst>
              <a:ext uri="{FF2B5EF4-FFF2-40B4-BE49-F238E27FC236}">
                <a16:creationId xmlns:a16="http://schemas.microsoft.com/office/drawing/2014/main" id="{5F6151BA-9AFB-7B61-4C35-DF60467DA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340" y="441341"/>
            <a:ext cx="1144025" cy="254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7E55-5C55-6AF9-D85D-A898860EA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376" y="275478"/>
            <a:ext cx="10515600" cy="132556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🏀  </a:t>
            </a:r>
            <a:r>
              <a:rPr lang="hr-HR" dirty="0" err="1">
                <a:ea typeface="+mj-lt"/>
                <a:cs typeface="+mj-lt"/>
              </a:rPr>
              <a:t>Our</a:t>
            </a:r>
            <a:r>
              <a:rPr lang="hr-HR" dirty="0">
                <a:ea typeface="+mj-lt"/>
                <a:cs typeface="+mj-lt"/>
              </a:rPr>
              <a:t> </a:t>
            </a:r>
            <a:r>
              <a:rPr lang="hr-HR" dirty="0" err="1">
                <a:ea typeface="+mj-lt"/>
                <a:cs typeface="+mj-lt"/>
              </a:rPr>
              <a:t>Vision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40BEA-8A69-6665-1EF3-E40CE2E05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3566"/>
            <a:ext cx="10515600" cy="4765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+mn-lt"/>
                <a:cs typeface="+mn-lt"/>
              </a:rPr>
              <a:t>I</a:t>
            </a:r>
            <a:r>
              <a:rPr lang="en-US" dirty="0" err="1">
                <a:ea typeface="+mn-lt"/>
                <a:cs typeface="+mn-lt"/>
              </a:rPr>
              <a:t>nteractive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NBA data visualization system</a:t>
            </a:r>
          </a:p>
          <a:p>
            <a:r>
              <a:rPr lang="hr-HR" b="1" dirty="0" err="1">
                <a:ea typeface="+mn-lt"/>
                <a:cs typeface="+mn-lt"/>
              </a:rPr>
              <a:t>Purpose</a:t>
            </a:r>
            <a:r>
              <a:rPr lang="hr-HR" b="1" dirty="0">
                <a:ea typeface="+mn-lt"/>
                <a:cs typeface="+mn-lt"/>
              </a:rPr>
              <a:t>: </a:t>
            </a:r>
            <a:r>
              <a:rPr lang="en-US" dirty="0"/>
              <a:t>Empowering basketball fans and sports bettors with actionable insights</a:t>
            </a:r>
            <a:r>
              <a:rPr lang="hr-HR" dirty="0"/>
              <a:t>.</a:t>
            </a:r>
            <a:endParaRPr lang="en-US" b="1" dirty="0"/>
          </a:p>
          <a:p>
            <a:endParaRPr lang="en-US" b="1" dirty="0">
              <a:ea typeface="+mn-lt"/>
              <a:cs typeface="+mn-lt"/>
            </a:endParaRPr>
          </a:p>
          <a:p>
            <a:r>
              <a:rPr lang="hr-HR" b="1" dirty="0" err="1">
                <a:ea typeface="+mn-lt"/>
                <a:cs typeface="+mn-lt"/>
              </a:rPr>
              <a:t>Key</a:t>
            </a:r>
            <a:r>
              <a:rPr lang="hr-HR" b="1" dirty="0">
                <a:ea typeface="+mn-lt"/>
                <a:cs typeface="+mn-lt"/>
              </a:rPr>
              <a:t> </a:t>
            </a:r>
            <a:r>
              <a:rPr lang="hr-HR" b="1" dirty="0" err="1">
                <a:ea typeface="+mn-lt"/>
                <a:cs typeface="+mn-lt"/>
              </a:rPr>
              <a:t>features</a:t>
            </a:r>
            <a:r>
              <a:rPr lang="hr-HR" b="1" dirty="0">
                <a:ea typeface="+mn-lt"/>
                <a:cs typeface="+mn-lt"/>
              </a:rPr>
              <a:t>:</a:t>
            </a:r>
            <a:endParaRPr lang="en-US" b="1" dirty="0"/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Filter data by </a:t>
            </a:r>
            <a:r>
              <a:rPr lang="en-US" b="1" dirty="0">
                <a:ea typeface="+mn-lt"/>
                <a:cs typeface="+mn-lt"/>
              </a:rPr>
              <a:t>players, teams, seasons and statistics</a:t>
            </a:r>
            <a:r>
              <a:rPr lang="hr-HR" b="1" dirty="0">
                <a:ea typeface="+mn-lt"/>
                <a:cs typeface="+mn-lt"/>
              </a:rPr>
              <a:t>   </a:t>
            </a:r>
            <a:r>
              <a:rPr lang="hr-HR" dirty="0"/>
              <a:t>🔍</a:t>
            </a:r>
            <a:endParaRPr lang="en-US" b="1" dirty="0"/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Compare </a:t>
            </a:r>
            <a:r>
              <a:rPr lang="en-US" b="1" dirty="0">
                <a:ea typeface="+mn-lt"/>
                <a:cs typeface="+mn-lt"/>
              </a:rPr>
              <a:t>historical and current performance</a:t>
            </a:r>
            <a:r>
              <a:rPr lang="hr-HR" b="1" dirty="0">
                <a:ea typeface="+mn-lt"/>
                <a:cs typeface="+mn-lt"/>
              </a:rPr>
              <a:t>  </a:t>
            </a:r>
            <a:r>
              <a:rPr lang="hr-HR" dirty="0"/>
              <a:t>📊</a:t>
            </a:r>
            <a:endParaRPr lang="en-US" b="1" dirty="0"/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Identify </a:t>
            </a:r>
            <a:r>
              <a:rPr lang="en-US" b="1" dirty="0">
                <a:ea typeface="+mn-lt"/>
                <a:cs typeface="+mn-lt"/>
              </a:rPr>
              <a:t>patterns that support smarter decisions</a:t>
            </a:r>
            <a:r>
              <a:rPr lang="hr-HR" b="1" dirty="0">
                <a:ea typeface="+mn-lt"/>
                <a:cs typeface="+mn-lt"/>
              </a:rPr>
              <a:t> </a:t>
            </a:r>
            <a:r>
              <a:rPr lang="hr-HR" dirty="0"/>
              <a:t>📉</a:t>
            </a:r>
            <a:endParaRPr lang="hr-HR" b="1" dirty="0">
              <a:ea typeface="+mn-lt"/>
              <a:cs typeface="+mn-lt"/>
            </a:endParaRPr>
          </a:p>
          <a:p>
            <a:pPr marL="914400" lvl="1" indent="-457200">
              <a:buAutoNum type="arabicPeriod"/>
            </a:pPr>
            <a:r>
              <a:rPr lang="hr-HR" dirty="0" err="1">
                <a:ea typeface="+mn-lt"/>
                <a:cs typeface="+mn-lt"/>
              </a:rPr>
              <a:t>Personalized</a:t>
            </a:r>
            <a:r>
              <a:rPr lang="hr-HR" dirty="0">
                <a:ea typeface="+mn-lt"/>
                <a:cs typeface="+mn-lt"/>
              </a:rPr>
              <a:t> </a:t>
            </a:r>
            <a:r>
              <a:rPr lang="hr-HR" b="1" dirty="0" err="1">
                <a:ea typeface="+mn-lt"/>
                <a:cs typeface="+mn-lt"/>
              </a:rPr>
              <a:t>experience</a:t>
            </a:r>
            <a:r>
              <a:rPr lang="hr-HR" dirty="0">
                <a:ea typeface="+mn-lt"/>
                <a:cs typeface="+mn-lt"/>
              </a:rPr>
              <a:t> to </a:t>
            </a:r>
            <a:r>
              <a:rPr lang="hr-HR" dirty="0" err="1">
                <a:ea typeface="+mn-lt"/>
                <a:cs typeface="+mn-lt"/>
              </a:rPr>
              <a:t>each</a:t>
            </a:r>
            <a:r>
              <a:rPr lang="hr-HR" dirty="0">
                <a:ea typeface="+mn-lt"/>
                <a:cs typeface="+mn-lt"/>
              </a:rPr>
              <a:t> </a:t>
            </a:r>
            <a:r>
              <a:rPr lang="hr-HR" dirty="0" err="1">
                <a:ea typeface="+mn-lt"/>
                <a:cs typeface="+mn-lt"/>
              </a:rPr>
              <a:t>user</a:t>
            </a:r>
            <a:r>
              <a:rPr lang="hr-HR" dirty="0">
                <a:ea typeface="+mn-lt"/>
                <a:cs typeface="+mn-lt"/>
              </a:rPr>
              <a:t>   </a:t>
            </a:r>
            <a:r>
              <a:rPr lang="hr-HR" dirty="0"/>
              <a:t>👤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27953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F3BF58-3988-510F-EF78-49D858A90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NBA </a:t>
            </a:r>
            <a:r>
              <a:rPr lang="hr-HR" dirty="0" err="1"/>
              <a:t>Dataset</a:t>
            </a:r>
            <a:r>
              <a:rPr lang="hr-HR" dirty="0"/>
              <a:t> (2005 – 2022)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117DF82-1EFA-BF64-6195-822DA3504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 err="1"/>
              <a:t>Source</a:t>
            </a:r>
            <a:r>
              <a:rPr lang="hr-HR" b="1" dirty="0"/>
              <a:t>:</a:t>
            </a:r>
          </a:p>
          <a:p>
            <a:pPr lvl="1"/>
            <a:r>
              <a:rPr lang="hr-HR" dirty="0" err="1">
                <a:hlinkClick r:id="rId2"/>
              </a:rPr>
              <a:t>Wyatt</a:t>
            </a:r>
            <a:r>
              <a:rPr lang="hr-HR" dirty="0">
                <a:hlinkClick r:id="rId2"/>
              </a:rPr>
              <a:t> Walsh – </a:t>
            </a:r>
            <a:r>
              <a:rPr lang="hr-HR" dirty="0" err="1">
                <a:hlinkClick r:id="rId2"/>
              </a:rPr>
              <a:t>Basketball</a:t>
            </a:r>
            <a:r>
              <a:rPr lang="hr-HR" dirty="0">
                <a:hlinkClick r:id="rId2"/>
              </a:rPr>
              <a:t> </a:t>
            </a:r>
            <a:r>
              <a:rPr lang="hr-HR" dirty="0" err="1">
                <a:hlinkClick r:id="rId2"/>
              </a:rPr>
              <a:t>dataset</a:t>
            </a:r>
            <a:endParaRPr lang="hr-HR" dirty="0"/>
          </a:p>
          <a:p>
            <a:pPr lvl="1"/>
            <a:r>
              <a:rPr lang="en-US" dirty="0">
                <a:hlinkClick r:id="rId3"/>
              </a:rPr>
              <a:t>Eoin A. Moore – Historical NBA data</a:t>
            </a:r>
            <a:endParaRPr lang="hr-HR" dirty="0"/>
          </a:p>
          <a:p>
            <a:r>
              <a:rPr lang="hr-HR" b="1" dirty="0"/>
              <a:t>Time </a:t>
            </a:r>
            <a:r>
              <a:rPr lang="hr-HR" b="1" dirty="0" err="1"/>
              <a:t>frame</a:t>
            </a:r>
            <a:r>
              <a:rPr lang="hr-HR" b="1" dirty="0"/>
              <a:t>:</a:t>
            </a:r>
            <a:r>
              <a:rPr lang="hr-HR" dirty="0"/>
              <a:t> 2005 – 2022</a:t>
            </a:r>
          </a:p>
          <a:p>
            <a:r>
              <a:rPr lang="en-US" b="1" dirty="0"/>
              <a:t>Data coverage:</a:t>
            </a:r>
            <a:endParaRPr lang="hr-HR" b="1" dirty="0"/>
          </a:p>
          <a:p>
            <a:pPr lvl="1"/>
            <a:r>
              <a:rPr lang="en-US" dirty="0"/>
              <a:t>Player statistics per game and season</a:t>
            </a:r>
          </a:p>
          <a:p>
            <a:pPr lvl="1"/>
            <a:r>
              <a:rPr lang="en-US" dirty="0"/>
              <a:t>Team statistics and game results</a:t>
            </a:r>
          </a:p>
          <a:p>
            <a:pPr lvl="1"/>
            <a:r>
              <a:rPr lang="hr-HR" dirty="0" err="1"/>
              <a:t>Trivia</a:t>
            </a:r>
            <a:r>
              <a:rPr lang="hr-HR" dirty="0"/>
              <a:t> </a:t>
            </a:r>
            <a:r>
              <a:rPr lang="hr-HR" dirty="0" err="1"/>
              <a:t>about</a:t>
            </a:r>
            <a:r>
              <a:rPr lang="hr-HR" dirty="0"/>
              <a:t> </a:t>
            </a:r>
            <a:r>
              <a:rPr lang="hr-HR" dirty="0" err="1"/>
              <a:t>teams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players</a:t>
            </a:r>
            <a:endParaRPr lang="en-US" dirty="0"/>
          </a:p>
          <a:p>
            <a:endParaRPr lang="hr-HR" dirty="0"/>
          </a:p>
          <a:p>
            <a:endParaRPr lang="hr-HR" dirty="0"/>
          </a:p>
          <a:p>
            <a:pPr marL="0" indent="0">
              <a:buNone/>
            </a:pPr>
            <a:endParaRPr lang="hr-HR" dirty="0"/>
          </a:p>
          <a:p>
            <a:endParaRPr lang="hr-HR" dirty="0"/>
          </a:p>
        </p:txBody>
      </p:sp>
      <p:pic>
        <p:nvPicPr>
          <p:cNvPr id="1026" name="Picture 2" descr="Kaggle Brand Guidelines">
            <a:extLst>
              <a:ext uri="{FF2B5EF4-FFF2-40B4-BE49-F238E27FC236}">
                <a16:creationId xmlns:a16="http://schemas.microsoft.com/office/drawing/2014/main" id="{7EC60DB1-B733-607C-0B5D-149467AA3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041" y="1557353"/>
            <a:ext cx="4567759" cy="2076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E2AEB241-9B67-A68E-8ACD-3C82F091C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623" y="4558227"/>
            <a:ext cx="5135177" cy="175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5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6437F11-E037-C22C-4385-7D6D3731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Tech</a:t>
            </a:r>
            <a:r>
              <a:rPr lang="hr-HR" dirty="0"/>
              <a:t> </a:t>
            </a:r>
            <a:r>
              <a:rPr lang="hr-HR" dirty="0" err="1"/>
              <a:t>Stack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47ACFEF-F427-6E8B-00C3-CA18E1106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 err="1"/>
              <a:t>Backend</a:t>
            </a:r>
            <a:r>
              <a:rPr lang="hr-HR" b="1" dirty="0"/>
              <a:t> / Data Processing:</a:t>
            </a:r>
          </a:p>
          <a:p>
            <a:pPr lvl="1"/>
            <a:r>
              <a:rPr lang="hr-HR" dirty="0"/>
              <a:t>Python, </a:t>
            </a:r>
            <a:r>
              <a:rPr lang="hr-HR" dirty="0" err="1"/>
              <a:t>Pandas</a:t>
            </a:r>
            <a:r>
              <a:rPr lang="hr-HR" dirty="0"/>
              <a:t>, </a:t>
            </a:r>
            <a:r>
              <a:rPr lang="hr-HR" dirty="0" err="1"/>
              <a:t>FastApi</a:t>
            </a:r>
            <a:endParaRPr lang="hr-HR" dirty="0"/>
          </a:p>
          <a:p>
            <a:pPr lvl="1"/>
            <a:endParaRPr lang="hr-HR" dirty="0"/>
          </a:p>
          <a:p>
            <a:r>
              <a:rPr lang="hr-HR" b="1" dirty="0" err="1"/>
              <a:t>Visualizations</a:t>
            </a:r>
            <a:r>
              <a:rPr lang="hr-HR" b="1" dirty="0"/>
              <a:t> / </a:t>
            </a:r>
            <a:r>
              <a:rPr lang="hr-HR" b="1" dirty="0" err="1"/>
              <a:t>Frontend</a:t>
            </a:r>
            <a:r>
              <a:rPr lang="hr-HR" b="1" dirty="0"/>
              <a:t>:</a:t>
            </a:r>
          </a:p>
          <a:p>
            <a:pPr lvl="1"/>
            <a:r>
              <a:rPr lang="hr-HR" dirty="0" err="1"/>
              <a:t>React</a:t>
            </a:r>
            <a:r>
              <a:rPr lang="hr-HR" dirty="0"/>
              <a:t>, D3.js</a:t>
            </a:r>
          </a:p>
          <a:p>
            <a:pPr lvl="1"/>
            <a:endParaRPr lang="hr-HR" dirty="0"/>
          </a:p>
          <a:p>
            <a:r>
              <a:rPr lang="hr-HR" b="1" dirty="0"/>
              <a:t>Data </a:t>
            </a:r>
            <a:r>
              <a:rPr lang="hr-HR" b="1" dirty="0" err="1"/>
              <a:t>storage</a:t>
            </a:r>
            <a:r>
              <a:rPr lang="hr-HR" b="1" dirty="0"/>
              <a:t>:</a:t>
            </a:r>
          </a:p>
          <a:p>
            <a:pPr lvl="1"/>
            <a:r>
              <a:rPr lang="hr-HR" dirty="0" err="1"/>
              <a:t>Supabase</a:t>
            </a:r>
            <a:endParaRPr lang="hr-HR" dirty="0"/>
          </a:p>
          <a:p>
            <a:pPr lvl="1"/>
            <a:endParaRPr lang="hr-HR" dirty="0"/>
          </a:p>
          <a:p>
            <a:pPr lvl="1"/>
            <a:endParaRPr lang="hr-H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82A166-6FDC-0A87-083F-43046013B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63825"/>
            <a:ext cx="1206631" cy="1206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a 8">
            <a:extLst>
              <a:ext uri="{FF2B5EF4-FFF2-40B4-BE49-F238E27FC236}">
                <a16:creationId xmlns:a16="http://schemas.microsoft.com/office/drawing/2014/main" id="{83E6D07F-6167-7307-CDA7-15BBB5399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09814" y="502370"/>
            <a:ext cx="2894961" cy="1170003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E8B6F84E-6F25-EDEB-E41A-7EB0A381F4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846" y="1807310"/>
            <a:ext cx="3591274" cy="664386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C85D46C8-F60F-7C48-CDBC-262CEFC18D9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602" y="3058702"/>
            <a:ext cx="1819762" cy="1619588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0E637EDC-30E2-7DA7-2266-B3D23DEB84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030" y="3058702"/>
            <a:ext cx="1819762" cy="1728774"/>
          </a:xfrm>
          <a:prstGeom prst="rect">
            <a:avLst/>
          </a:prstGeom>
        </p:spPr>
      </p:pic>
      <p:pic>
        <p:nvPicPr>
          <p:cNvPr id="17" name="Slika 16">
            <a:extLst>
              <a:ext uri="{FF2B5EF4-FFF2-40B4-BE49-F238E27FC236}">
                <a16:creationId xmlns:a16="http://schemas.microsoft.com/office/drawing/2014/main" id="{BECA2DBA-B944-9D44-AB39-DCBCD2E1CBA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020" y="4431645"/>
            <a:ext cx="1531463" cy="153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260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3A9225A-05CC-3265-A2FB-DFE12035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User</a:t>
            </a:r>
            <a:r>
              <a:rPr lang="hr-HR" dirty="0"/>
              <a:t> </a:t>
            </a:r>
            <a:r>
              <a:rPr lang="hr-HR" dirty="0" err="1"/>
              <a:t>Personalization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C53A8DD-5907-5561-6BA6-503C45A9C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4002" cy="4351338"/>
          </a:xfrm>
        </p:spPr>
        <p:txBody>
          <a:bodyPr/>
          <a:lstStyle/>
          <a:p>
            <a:r>
              <a:rPr lang="en-US" dirty="0"/>
              <a:t>Users create their profile and select their </a:t>
            </a:r>
            <a:r>
              <a:rPr lang="en-US" b="1" dirty="0"/>
              <a:t>favorite player</a:t>
            </a:r>
            <a:r>
              <a:rPr lang="en-US" dirty="0"/>
              <a:t> and </a:t>
            </a:r>
            <a:r>
              <a:rPr lang="en-US" b="1" dirty="0"/>
              <a:t>team</a:t>
            </a:r>
            <a:endParaRPr lang="hr-HR" b="1" dirty="0"/>
          </a:p>
          <a:p>
            <a:r>
              <a:rPr lang="en-US" dirty="0"/>
              <a:t>Personalized dashboard displays </a:t>
            </a:r>
            <a:r>
              <a:rPr lang="en-US" b="1" dirty="0"/>
              <a:t>key stats</a:t>
            </a:r>
            <a:r>
              <a:rPr lang="en-US" dirty="0"/>
              <a:t> for user’s choices</a:t>
            </a:r>
            <a:endParaRPr lang="hr-HR" dirty="0"/>
          </a:p>
          <a:p>
            <a:r>
              <a:rPr lang="hr-HR" dirty="0" err="1"/>
              <a:t>Makes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dashboard</a:t>
            </a:r>
            <a:r>
              <a:rPr lang="hr-HR" dirty="0"/>
              <a:t> </a:t>
            </a:r>
            <a:r>
              <a:rPr lang="hr-HR" dirty="0" err="1"/>
              <a:t>feel</a:t>
            </a:r>
            <a:r>
              <a:rPr lang="hr-HR" dirty="0"/>
              <a:t> </a:t>
            </a:r>
            <a:r>
              <a:rPr lang="hr-HR" b="1" dirty="0" err="1"/>
              <a:t>relevant</a:t>
            </a:r>
            <a:r>
              <a:rPr lang="hr-HR" dirty="0"/>
              <a:t> to </a:t>
            </a:r>
            <a:r>
              <a:rPr lang="hr-HR" dirty="0" err="1"/>
              <a:t>user</a:t>
            </a:r>
            <a:endParaRPr lang="hr-HR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B5DDE921-1E83-AC5A-668C-2CC3F4E9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505" y="763720"/>
            <a:ext cx="5005148" cy="2665280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513802A0-7432-AA5D-6B15-CEB2730EE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04" y="3657601"/>
            <a:ext cx="5006495" cy="29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22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5E0D5B8-782E-2AA0-D9DC-E3CBE2D2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Main</a:t>
            </a:r>
            <a:r>
              <a:rPr lang="hr-HR" dirty="0"/>
              <a:t> </a:t>
            </a:r>
            <a:r>
              <a:rPr lang="hr-HR" dirty="0" err="1"/>
              <a:t>Dashboard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AA96F95-B9B9-EA99-9BFA-76A61D84A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8394" cy="4351338"/>
          </a:xfrm>
        </p:spPr>
        <p:txBody>
          <a:bodyPr/>
          <a:lstStyle/>
          <a:p>
            <a:r>
              <a:rPr lang="hr-HR" dirty="0"/>
              <a:t>2 </a:t>
            </a:r>
            <a:r>
              <a:rPr lang="hr-HR" dirty="0" err="1"/>
              <a:t>main</a:t>
            </a:r>
            <a:r>
              <a:rPr lang="hr-HR" dirty="0"/>
              <a:t> </a:t>
            </a:r>
            <a:r>
              <a:rPr lang="hr-HR" dirty="0" err="1"/>
              <a:t>parts</a:t>
            </a:r>
            <a:r>
              <a:rPr lang="hr-HR" dirty="0"/>
              <a:t>:</a:t>
            </a:r>
          </a:p>
          <a:p>
            <a:pPr lvl="1"/>
            <a:r>
              <a:rPr lang="hr-HR" b="1" dirty="0" err="1"/>
              <a:t>Personalized</a:t>
            </a:r>
            <a:r>
              <a:rPr lang="hr-HR" dirty="0"/>
              <a:t> most </a:t>
            </a:r>
            <a:r>
              <a:rPr lang="hr-HR" dirty="0" err="1"/>
              <a:t>recent</a:t>
            </a:r>
            <a:r>
              <a:rPr lang="hr-HR" dirty="0"/>
              <a:t> data </a:t>
            </a:r>
            <a:r>
              <a:rPr lang="hr-HR" dirty="0" err="1"/>
              <a:t>snapshot</a:t>
            </a:r>
            <a:r>
              <a:rPr lang="hr-HR" dirty="0"/>
              <a:t> </a:t>
            </a:r>
          </a:p>
          <a:p>
            <a:pPr lvl="1"/>
            <a:r>
              <a:rPr lang="hr-HR" dirty="0" err="1"/>
              <a:t>Visualizations</a:t>
            </a:r>
            <a:r>
              <a:rPr lang="hr-HR" dirty="0"/>
              <a:t> </a:t>
            </a:r>
            <a:r>
              <a:rPr lang="hr-HR" b="1" dirty="0" err="1"/>
              <a:t>menu</a:t>
            </a:r>
            <a:endParaRPr lang="hr-HR" b="1" dirty="0"/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FB9295B3-A242-BDCF-180F-7D85A10F4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81037"/>
            <a:ext cx="5382267" cy="3843779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999612A6-41BC-74EF-A6DC-D3C7A756D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98210"/>
            <a:ext cx="7042608" cy="159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16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29075F6-9689-508C-D91C-12B24D25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95"/>
            <a:ext cx="10515600" cy="1057276"/>
          </a:xfrm>
        </p:spPr>
        <p:txBody>
          <a:bodyPr/>
          <a:lstStyle/>
          <a:p>
            <a:r>
              <a:rPr lang="hr-HR" dirty="0" err="1"/>
              <a:t>Graph</a:t>
            </a:r>
            <a:r>
              <a:rPr lang="hr-HR" dirty="0"/>
              <a:t> 1: Team </a:t>
            </a:r>
            <a:r>
              <a:rPr lang="hr-HR" dirty="0" err="1"/>
              <a:t>Matchup</a:t>
            </a:r>
            <a:r>
              <a:rPr lang="hr-HR" dirty="0"/>
              <a:t> </a:t>
            </a:r>
            <a:r>
              <a:rPr lang="hr-HR" dirty="0" err="1"/>
              <a:t>Trends</a:t>
            </a:r>
            <a:endParaRPr lang="hr-HR" dirty="0"/>
          </a:p>
        </p:txBody>
      </p:sp>
      <p:pic>
        <p:nvPicPr>
          <p:cNvPr id="7" name="Rezervirano mjesto sadržaja 6">
            <a:extLst>
              <a:ext uri="{FF2B5EF4-FFF2-40B4-BE49-F238E27FC236}">
                <a16:creationId xmlns:a16="http://schemas.microsoft.com/office/drawing/2014/main" id="{E1B2465D-3D9C-93B6-FC38-1CB8C5CE1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4236" y="1150071"/>
            <a:ext cx="6857479" cy="3987293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5D6E9701-7C38-C5C1-876E-53CB2E0D2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0071"/>
            <a:ext cx="5614966" cy="3990713"/>
          </a:xfrm>
          <a:prstGeom prst="rect">
            <a:avLst/>
          </a:prstGeom>
        </p:spPr>
      </p:pic>
      <p:sp>
        <p:nvSpPr>
          <p:cNvPr id="6" name="Oblačić za govor: pravokutnik 5">
            <a:extLst>
              <a:ext uri="{FF2B5EF4-FFF2-40B4-BE49-F238E27FC236}">
                <a16:creationId xmlns:a16="http://schemas.microsoft.com/office/drawing/2014/main" id="{DEA4DF8E-921A-C467-7C8D-D29003E771ED}"/>
              </a:ext>
            </a:extLst>
          </p:cNvPr>
          <p:cNvSpPr/>
          <p:nvPr/>
        </p:nvSpPr>
        <p:spPr>
          <a:xfrm>
            <a:off x="6663447" y="1478604"/>
            <a:ext cx="5350213" cy="2334639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4CE6F7F3-E4ED-3842-B1AC-24CB4447EA6E}"/>
              </a:ext>
            </a:extLst>
          </p:cNvPr>
          <p:cNvSpPr txBox="1"/>
          <p:nvPr/>
        </p:nvSpPr>
        <p:spPr>
          <a:xfrm>
            <a:off x="6812189" y="1674674"/>
            <a:ext cx="52140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b="1" u="sng" dirty="0" err="1">
                <a:solidFill>
                  <a:schemeClr val="bg1"/>
                </a:solidFill>
              </a:rPr>
              <a:t>Questions</a:t>
            </a:r>
            <a:r>
              <a:rPr lang="hr-HR" dirty="0">
                <a:solidFill>
                  <a:schemeClr val="bg1"/>
                </a:solidFill>
              </a:rPr>
              <a:t>:</a:t>
            </a:r>
          </a:p>
          <a:p>
            <a:pPr marL="342900" indent="-342900">
              <a:buAutoNum type="arabicPeriod"/>
            </a:pPr>
            <a:r>
              <a:rPr lang="hr-HR" dirty="0">
                <a:solidFill>
                  <a:schemeClr val="bg1"/>
                </a:solidFill>
              </a:rPr>
              <a:t>Out </a:t>
            </a:r>
            <a:r>
              <a:rPr lang="hr-HR" dirty="0" err="1">
                <a:solidFill>
                  <a:schemeClr val="bg1"/>
                </a:solidFill>
              </a:rPr>
              <a:t>of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the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last</a:t>
            </a:r>
            <a:r>
              <a:rPr lang="hr-HR" dirty="0">
                <a:solidFill>
                  <a:schemeClr val="bg1"/>
                </a:solidFill>
              </a:rPr>
              <a:t> 15 </a:t>
            </a:r>
            <a:r>
              <a:rPr lang="hr-HR" dirty="0" err="1">
                <a:solidFill>
                  <a:schemeClr val="bg1"/>
                </a:solidFill>
              </a:rPr>
              <a:t>games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which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team</a:t>
            </a:r>
            <a:r>
              <a:rPr lang="hr-HR" dirty="0">
                <a:solidFill>
                  <a:schemeClr val="bg1"/>
                </a:solidFill>
              </a:rPr>
              <a:t> had more </a:t>
            </a:r>
            <a:r>
              <a:rPr lang="hr-HR" dirty="0" err="1">
                <a:solidFill>
                  <a:schemeClr val="bg1"/>
                </a:solidFill>
              </a:rPr>
              <a:t>assists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in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the</a:t>
            </a:r>
            <a:r>
              <a:rPr lang="hr-HR" dirty="0">
                <a:solidFill>
                  <a:schemeClr val="bg1"/>
                </a:solidFill>
              </a:rPr>
              <a:t> 3rd </a:t>
            </a:r>
            <a:r>
              <a:rPr lang="hr-HR" dirty="0" err="1">
                <a:solidFill>
                  <a:schemeClr val="bg1"/>
                </a:solidFill>
              </a:rPr>
              <a:t>last</a:t>
            </a:r>
            <a:r>
              <a:rPr lang="hr-HR" dirty="0">
                <a:solidFill>
                  <a:schemeClr val="bg1"/>
                </a:solidFill>
              </a:rPr>
              <a:t> game?</a:t>
            </a:r>
          </a:p>
          <a:p>
            <a:pPr marL="342900" indent="-342900">
              <a:buAutoNum type="arabicPeriod"/>
            </a:pPr>
            <a:endParaRPr lang="hr-H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hr-HR" dirty="0">
                <a:solidFill>
                  <a:schemeClr val="bg1"/>
                </a:solidFill>
              </a:rPr>
              <a:t>How </a:t>
            </a:r>
            <a:r>
              <a:rPr lang="hr-HR" dirty="0" err="1">
                <a:solidFill>
                  <a:schemeClr val="bg1"/>
                </a:solidFill>
              </a:rPr>
              <a:t>many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times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in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the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last</a:t>
            </a:r>
            <a:r>
              <a:rPr lang="hr-HR" dirty="0">
                <a:solidFill>
                  <a:schemeClr val="bg1"/>
                </a:solidFill>
              </a:rPr>
              <a:t> 10 </a:t>
            </a:r>
            <a:r>
              <a:rPr lang="hr-HR" dirty="0" err="1">
                <a:solidFill>
                  <a:schemeClr val="bg1"/>
                </a:solidFill>
              </a:rPr>
              <a:t>matches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between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teamA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and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teamB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has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the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teamA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outscored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teamB</a:t>
            </a:r>
            <a:r>
              <a:rPr lang="hr-HR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82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F37A13D-F296-94E7-3F8F-DCC56168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Graph</a:t>
            </a:r>
            <a:r>
              <a:rPr lang="hr-HR" dirty="0"/>
              <a:t> 2: Player </a:t>
            </a:r>
            <a:r>
              <a:rPr lang="hr-HR" dirty="0" err="1"/>
              <a:t>Comparison</a:t>
            </a:r>
            <a:endParaRPr lang="hr-HR" dirty="0"/>
          </a:p>
        </p:txBody>
      </p:sp>
      <p:pic>
        <p:nvPicPr>
          <p:cNvPr id="5" name="Rezervirano mjesto sadržaja 4">
            <a:extLst>
              <a:ext uri="{FF2B5EF4-FFF2-40B4-BE49-F238E27FC236}">
                <a16:creationId xmlns:a16="http://schemas.microsoft.com/office/drawing/2014/main" id="{FDB78760-DCF6-7CD8-4372-10A8B404D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889" y="1585608"/>
            <a:ext cx="6444292" cy="3909418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0AE1053B-A04B-C4AD-1E14-213D0CFAB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86" y="1554050"/>
            <a:ext cx="6071644" cy="4231582"/>
          </a:xfrm>
          <a:prstGeom prst="rect">
            <a:avLst/>
          </a:prstGeom>
        </p:spPr>
      </p:pic>
      <p:sp>
        <p:nvSpPr>
          <p:cNvPr id="6" name="Oblačić za govor: pravokutnik 5">
            <a:extLst>
              <a:ext uri="{FF2B5EF4-FFF2-40B4-BE49-F238E27FC236}">
                <a16:creationId xmlns:a16="http://schemas.microsoft.com/office/drawing/2014/main" id="{825C01B1-2009-E5E7-AA66-E046F86F15D7}"/>
              </a:ext>
            </a:extLst>
          </p:cNvPr>
          <p:cNvSpPr/>
          <p:nvPr/>
        </p:nvSpPr>
        <p:spPr>
          <a:xfrm>
            <a:off x="6408104" y="1554050"/>
            <a:ext cx="5712560" cy="2980637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5432EFF2-3261-F3E2-A1F9-090B4B978753}"/>
              </a:ext>
            </a:extLst>
          </p:cNvPr>
          <p:cNvSpPr txBox="1"/>
          <p:nvPr/>
        </p:nvSpPr>
        <p:spPr>
          <a:xfrm>
            <a:off x="6499898" y="1722246"/>
            <a:ext cx="56207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b="1" u="sng" dirty="0" err="1">
                <a:solidFill>
                  <a:schemeClr val="bg1"/>
                </a:solidFill>
              </a:rPr>
              <a:t>Questions</a:t>
            </a:r>
            <a:r>
              <a:rPr lang="hr-HR" dirty="0">
                <a:solidFill>
                  <a:schemeClr val="bg1"/>
                </a:solidFill>
              </a:rPr>
              <a:t>:</a:t>
            </a:r>
          </a:p>
          <a:p>
            <a:pPr marL="342900" indent="-342900" algn="just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Within the filtered date range</a:t>
            </a:r>
            <a:r>
              <a:rPr lang="hr-HR" dirty="0">
                <a:solidFill>
                  <a:schemeClr val="bg1"/>
                </a:solidFill>
              </a:rPr>
              <a:t>, h</a:t>
            </a:r>
            <a:r>
              <a:rPr lang="en-US" dirty="0">
                <a:solidFill>
                  <a:schemeClr val="bg1"/>
                </a:solidFill>
              </a:rPr>
              <a:t>ow </a:t>
            </a:r>
            <a:r>
              <a:rPr lang="hr-HR" dirty="0" err="1">
                <a:solidFill>
                  <a:schemeClr val="bg1"/>
                </a:solidFill>
              </a:rPr>
              <a:t>is</a:t>
            </a:r>
            <a:r>
              <a:rPr lang="en-US" dirty="0">
                <a:solidFill>
                  <a:schemeClr val="bg1"/>
                </a:solidFill>
              </a:rPr>
              <a:t> Stephen Curry’s scoring efficiency (FG%, 3PT%, FT%) </a:t>
            </a:r>
            <a:r>
              <a:rPr lang="hr-HR" dirty="0" err="1">
                <a:solidFill>
                  <a:schemeClr val="bg1"/>
                </a:solidFill>
              </a:rPr>
              <a:t>compared</a:t>
            </a:r>
            <a:r>
              <a:rPr lang="en-US" dirty="0">
                <a:solidFill>
                  <a:schemeClr val="bg1"/>
                </a:solidFill>
              </a:rPr>
              <a:t> to James Harden’s efficiency during the same period</a:t>
            </a:r>
            <a:r>
              <a:rPr lang="hr-HR" dirty="0">
                <a:solidFill>
                  <a:schemeClr val="bg1"/>
                </a:solidFill>
              </a:rPr>
              <a:t>?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pPr algn="just"/>
            <a:r>
              <a:rPr lang="hr-HR" dirty="0">
                <a:solidFill>
                  <a:schemeClr val="bg1"/>
                </a:solidFill>
              </a:rPr>
              <a:t>2. </a:t>
            </a:r>
            <a:r>
              <a:rPr lang="en-US" dirty="0">
                <a:solidFill>
                  <a:schemeClr val="bg1"/>
                </a:solidFill>
              </a:rPr>
              <a:t>Within the filtered date range, which player contributed more total offensive output when combining points + assists?</a:t>
            </a:r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06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D89A7C1-1349-5E04-D5DA-02186237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08833"/>
          </a:xfrm>
        </p:spPr>
        <p:txBody>
          <a:bodyPr/>
          <a:lstStyle/>
          <a:p>
            <a:r>
              <a:rPr lang="hr-HR" dirty="0" err="1"/>
              <a:t>Graph</a:t>
            </a:r>
            <a:r>
              <a:rPr lang="hr-HR" dirty="0"/>
              <a:t> 3: </a:t>
            </a:r>
            <a:r>
              <a:rPr lang="hr-HR" dirty="0" err="1"/>
              <a:t>Clutch</a:t>
            </a:r>
            <a:r>
              <a:rPr lang="hr-HR" dirty="0"/>
              <a:t> </a:t>
            </a:r>
            <a:r>
              <a:rPr lang="hr-HR" dirty="0" err="1"/>
              <a:t>Factor</a:t>
            </a:r>
            <a:endParaRPr lang="hr-HR" dirty="0"/>
          </a:p>
        </p:txBody>
      </p:sp>
      <p:pic>
        <p:nvPicPr>
          <p:cNvPr id="5" name="Rezervirano mjesto sadržaja 4">
            <a:extLst>
              <a:ext uri="{FF2B5EF4-FFF2-40B4-BE49-F238E27FC236}">
                <a16:creationId xmlns:a16="http://schemas.microsoft.com/office/drawing/2014/main" id="{1455AA65-BAAD-7B80-7970-A70274326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2072119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EBEF87E6-5CA0-AA52-89E7-6D8488AA9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10022"/>
            <a:ext cx="8529536" cy="3964929"/>
          </a:xfrm>
          <a:prstGeom prst="rect">
            <a:avLst/>
          </a:prstGeom>
        </p:spPr>
      </p:pic>
      <p:sp>
        <p:nvSpPr>
          <p:cNvPr id="8" name="Oblačić za govor: pravokutnik 7">
            <a:extLst>
              <a:ext uri="{FF2B5EF4-FFF2-40B4-BE49-F238E27FC236}">
                <a16:creationId xmlns:a16="http://schemas.microsoft.com/office/drawing/2014/main" id="{A9EBFDEC-7FFE-7F6E-57B9-0599315EE2CB}"/>
              </a:ext>
            </a:extLst>
          </p:cNvPr>
          <p:cNvSpPr/>
          <p:nvPr/>
        </p:nvSpPr>
        <p:spPr>
          <a:xfrm>
            <a:off x="838200" y="4998166"/>
            <a:ext cx="10155676" cy="1477329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097D266E-910C-37DD-DB09-FCC1C85CC269}"/>
              </a:ext>
            </a:extLst>
          </p:cNvPr>
          <p:cNvSpPr txBox="1"/>
          <p:nvPr/>
        </p:nvSpPr>
        <p:spPr>
          <a:xfrm>
            <a:off x="1001949" y="4998166"/>
            <a:ext cx="100373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b="1" u="sng" dirty="0" err="1">
                <a:solidFill>
                  <a:schemeClr val="bg1"/>
                </a:solidFill>
              </a:rPr>
              <a:t>Questions</a:t>
            </a:r>
            <a:r>
              <a:rPr lang="hr-HR" dirty="0">
                <a:solidFill>
                  <a:schemeClr val="bg1"/>
                </a:solidFill>
              </a:rPr>
              <a:t>: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Within the filtered date range, which player has the highest win percentage in clutch games?</a:t>
            </a:r>
            <a:endParaRPr lang="hr-H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hr-H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Within the filtered date range, among the selected players, from the ones who have more than 25 PPG in clutch games, who has the lowest field goal percentage</a:t>
            </a:r>
            <a:r>
              <a:rPr lang="hr-HR" dirty="0">
                <a:solidFill>
                  <a:schemeClr val="bg1"/>
                </a:solidFill>
              </a:rPr>
              <a:t> (</a:t>
            </a:r>
            <a:r>
              <a:rPr lang="hr-HR" dirty="0" err="1">
                <a:solidFill>
                  <a:schemeClr val="bg1"/>
                </a:solidFill>
              </a:rPr>
              <a:t>smallest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bubble</a:t>
            </a:r>
            <a:r>
              <a:rPr lang="hr-HR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8763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D105AAB-1244-943D-0C0A-14BC4844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Use </a:t>
            </a:r>
            <a:r>
              <a:rPr lang="hr-HR" dirty="0" err="1"/>
              <a:t>Cases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77303A2-DF54-BBAB-B942-F0B003512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 err="1"/>
              <a:t>Fast</a:t>
            </a:r>
            <a:r>
              <a:rPr lang="hr-HR" b="1" dirty="0"/>
              <a:t> </a:t>
            </a:r>
            <a:r>
              <a:rPr lang="hr-HR" b="1" dirty="0" err="1"/>
              <a:t>insight</a:t>
            </a:r>
            <a:r>
              <a:rPr lang="hr-HR" b="1" dirty="0"/>
              <a:t> </a:t>
            </a:r>
            <a:r>
              <a:rPr lang="hr-HR" dirty="0" err="1"/>
              <a:t>into</a:t>
            </a:r>
            <a:r>
              <a:rPr lang="hr-HR" dirty="0"/>
              <a:t> </a:t>
            </a:r>
            <a:r>
              <a:rPr lang="hr-HR" dirty="0" err="1"/>
              <a:t>player</a:t>
            </a:r>
            <a:r>
              <a:rPr lang="hr-HR" dirty="0"/>
              <a:t> </a:t>
            </a:r>
            <a:r>
              <a:rPr lang="hr-HR" dirty="0" err="1"/>
              <a:t>performances</a:t>
            </a:r>
            <a:r>
              <a:rPr lang="hr-HR" dirty="0"/>
              <a:t>	⚡</a:t>
            </a:r>
          </a:p>
          <a:p>
            <a:r>
              <a:rPr lang="hr-HR" dirty="0" err="1"/>
              <a:t>Compare</a:t>
            </a:r>
            <a:r>
              <a:rPr lang="hr-HR" dirty="0"/>
              <a:t> </a:t>
            </a:r>
            <a:r>
              <a:rPr lang="hr-HR" b="1" dirty="0" err="1"/>
              <a:t>historical</a:t>
            </a:r>
            <a:r>
              <a:rPr lang="hr-HR" b="1" dirty="0"/>
              <a:t> vs. </a:t>
            </a:r>
            <a:r>
              <a:rPr lang="hr-HR" b="1" dirty="0" err="1"/>
              <a:t>current</a:t>
            </a:r>
            <a:r>
              <a:rPr lang="hr-HR" b="1" dirty="0"/>
              <a:t> </a:t>
            </a:r>
            <a:r>
              <a:rPr lang="hr-HR" b="1" dirty="0" err="1"/>
              <a:t>stats</a:t>
            </a:r>
            <a:r>
              <a:rPr lang="hr-HR" b="1" dirty="0"/>
              <a:t> 	📊</a:t>
            </a:r>
          </a:p>
          <a:p>
            <a:r>
              <a:rPr lang="hr-HR" dirty="0" err="1"/>
              <a:t>Identifying</a:t>
            </a:r>
            <a:r>
              <a:rPr lang="hr-HR" dirty="0"/>
              <a:t> </a:t>
            </a:r>
            <a:r>
              <a:rPr lang="hr-HR" b="1" dirty="0" err="1"/>
              <a:t>trends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player</a:t>
            </a:r>
            <a:r>
              <a:rPr lang="hr-HR" dirty="0"/>
              <a:t>/</a:t>
            </a:r>
            <a:r>
              <a:rPr lang="hr-HR" dirty="0" err="1"/>
              <a:t>team</a:t>
            </a:r>
            <a:r>
              <a:rPr lang="hr-HR" dirty="0"/>
              <a:t> data	📉</a:t>
            </a:r>
          </a:p>
          <a:p>
            <a:r>
              <a:rPr lang="en-US" dirty="0"/>
              <a:t>Support smarter </a:t>
            </a:r>
            <a:r>
              <a:rPr lang="en-US" b="1" dirty="0"/>
              <a:t>betting</a:t>
            </a:r>
            <a:r>
              <a:rPr lang="en-US" dirty="0"/>
              <a:t> or </a:t>
            </a:r>
            <a:r>
              <a:rPr lang="en-US" b="1" dirty="0"/>
              <a:t>fantasy league </a:t>
            </a:r>
            <a:r>
              <a:rPr lang="en-US" dirty="0"/>
              <a:t>decisions</a:t>
            </a:r>
            <a:endParaRPr lang="hr-HR" dirty="0"/>
          </a:p>
          <a:p>
            <a:r>
              <a:rPr lang="hr-HR" b="1" dirty="0" err="1"/>
              <a:t>Following</a:t>
            </a:r>
            <a:r>
              <a:rPr lang="hr-HR" b="1" dirty="0"/>
              <a:t> </a:t>
            </a:r>
            <a:r>
              <a:rPr lang="en-US" dirty="0"/>
              <a:t>favorite players and teams</a:t>
            </a:r>
            <a:r>
              <a:rPr lang="hr-HR" dirty="0"/>
              <a:t> </a:t>
            </a:r>
          </a:p>
        </p:txBody>
      </p:sp>
      <p:pic>
        <p:nvPicPr>
          <p:cNvPr id="1028" name="Picture 4" descr="Luka Dončić Is More Than One of the Best Players in the League — NIKE, Inc.">
            <a:extLst>
              <a:ext uri="{FF2B5EF4-FFF2-40B4-BE49-F238E27FC236}">
                <a16:creationId xmlns:a16="http://schemas.microsoft.com/office/drawing/2014/main" id="{A49C3733-1E1D-F0C7-A86D-0203CBDFA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130" y="4414453"/>
            <a:ext cx="1309270" cy="218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Image - Espn Fantasy Sports Logo - Free Transparent PNG Clipart Images ...">
            <a:extLst>
              <a:ext uri="{FF2B5EF4-FFF2-40B4-BE49-F238E27FC236}">
                <a16:creationId xmlns:a16="http://schemas.microsoft.com/office/drawing/2014/main" id="{ECD2A275-CF9A-4C69-231B-D6BF4AA898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pic>
        <p:nvPicPr>
          <p:cNvPr id="1030" name="Picture 6" descr="Fantasy Basketball - Leagues, Rankings, News, Picks &amp; More">
            <a:extLst>
              <a:ext uri="{FF2B5EF4-FFF2-40B4-BE49-F238E27FC236}">
                <a16:creationId xmlns:a16="http://schemas.microsoft.com/office/drawing/2014/main" id="{569D17C8-8AEF-EC3E-4B29-3F6FC4BD2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00" y="3836709"/>
            <a:ext cx="32512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226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1CDC550-2349-E76C-12C6-3A9E80894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48" y="290631"/>
            <a:ext cx="10515600" cy="1032332"/>
          </a:xfrm>
        </p:spPr>
        <p:txBody>
          <a:bodyPr/>
          <a:lstStyle/>
          <a:p>
            <a:r>
              <a:rPr lang="hr-HR" dirty="0"/>
              <a:t>Video Demo</a:t>
            </a:r>
          </a:p>
        </p:txBody>
      </p:sp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51E82367-A373-796C-5D4B-2C0CE69B1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/>
              <a:t>The</a:t>
            </a:r>
            <a:r>
              <a:rPr lang="hr-HR" dirty="0"/>
              <a:t> video </a:t>
            </a:r>
            <a:r>
              <a:rPr lang="hr-HR" dirty="0" err="1"/>
              <a:t>demonstration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</a:t>
            </a:r>
            <a:r>
              <a:rPr lang="hr-HR" dirty="0" err="1"/>
              <a:t>be</a:t>
            </a:r>
            <a:r>
              <a:rPr lang="hr-HR" dirty="0"/>
              <a:t> </a:t>
            </a:r>
            <a:r>
              <a:rPr lang="hr-HR" dirty="0" err="1"/>
              <a:t>found</a:t>
            </a:r>
            <a:r>
              <a:rPr lang="hr-HR" dirty="0"/>
              <a:t> on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dropbox</a:t>
            </a:r>
            <a:r>
              <a:rPr lang="hr-HR" dirty="0"/>
              <a:t> link </a:t>
            </a:r>
            <a:r>
              <a:rPr lang="hr-HR" dirty="0" err="1"/>
              <a:t>provided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85272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E8FF485-8A35-BE58-8A90-605A96B6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Conclusion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F7DED39-5B8B-6D52-48F1-3390BA588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 err="1"/>
              <a:t>Fast</a:t>
            </a:r>
            <a:r>
              <a:rPr lang="hr-HR" dirty="0"/>
              <a:t> </a:t>
            </a:r>
            <a:r>
              <a:rPr lang="hr-HR" dirty="0" err="1"/>
              <a:t>access</a:t>
            </a:r>
            <a:r>
              <a:rPr lang="hr-HR" dirty="0"/>
              <a:t> to </a:t>
            </a:r>
            <a:r>
              <a:rPr lang="hr-HR" dirty="0" err="1"/>
              <a:t>key</a:t>
            </a:r>
            <a:r>
              <a:rPr lang="hr-HR" dirty="0"/>
              <a:t> NBA data</a:t>
            </a:r>
          </a:p>
          <a:p>
            <a:r>
              <a:rPr lang="hr-HR" b="1" dirty="0" err="1"/>
              <a:t>Personalized</a:t>
            </a:r>
            <a:r>
              <a:rPr lang="hr-HR" b="1" dirty="0"/>
              <a:t> </a:t>
            </a:r>
            <a:r>
              <a:rPr lang="hr-HR" b="1" dirty="0" err="1"/>
              <a:t>user</a:t>
            </a:r>
            <a:r>
              <a:rPr lang="hr-HR" b="1" dirty="0"/>
              <a:t> </a:t>
            </a:r>
            <a:r>
              <a:rPr lang="hr-HR" b="1" dirty="0" err="1"/>
              <a:t>experience</a:t>
            </a:r>
            <a:r>
              <a:rPr lang="hr-HR" dirty="0"/>
              <a:t> </a:t>
            </a:r>
            <a:endParaRPr lang="hr-HR" b="1" dirty="0"/>
          </a:p>
          <a:p>
            <a:endParaRPr lang="hr-HR" b="1" dirty="0"/>
          </a:p>
          <a:p>
            <a:r>
              <a:rPr lang="hr-HR" b="1" dirty="0" err="1"/>
              <a:t>Possible</a:t>
            </a:r>
            <a:r>
              <a:rPr lang="hr-HR" b="1" dirty="0"/>
              <a:t> </a:t>
            </a:r>
            <a:r>
              <a:rPr lang="hr-HR" b="1" dirty="0" err="1"/>
              <a:t>augmentations</a:t>
            </a:r>
            <a:r>
              <a:rPr lang="hr-HR" b="1" dirty="0"/>
              <a:t>:</a:t>
            </a:r>
          </a:p>
          <a:p>
            <a:pPr lvl="1"/>
            <a:r>
              <a:rPr lang="hr-HR" dirty="0" err="1"/>
              <a:t>Frequent</a:t>
            </a:r>
            <a:r>
              <a:rPr lang="hr-HR" dirty="0"/>
              <a:t> </a:t>
            </a:r>
            <a:r>
              <a:rPr lang="hr-HR" b="1" dirty="0" err="1"/>
              <a:t>stats</a:t>
            </a:r>
            <a:r>
              <a:rPr lang="hr-HR" b="1" dirty="0"/>
              <a:t> </a:t>
            </a:r>
            <a:r>
              <a:rPr lang="hr-HR" b="1" dirty="0" err="1"/>
              <a:t>updates</a:t>
            </a:r>
            <a:endParaRPr lang="hr-HR" b="1" dirty="0"/>
          </a:p>
          <a:p>
            <a:pPr lvl="1"/>
            <a:r>
              <a:rPr lang="hr-HR" b="1" dirty="0"/>
              <a:t>Separate date </a:t>
            </a:r>
            <a:r>
              <a:rPr lang="hr-HR" b="1" dirty="0" err="1"/>
              <a:t>filters</a:t>
            </a:r>
            <a:r>
              <a:rPr lang="hr-HR" b="1" dirty="0"/>
              <a:t> </a:t>
            </a:r>
            <a:r>
              <a:rPr lang="hr-HR" dirty="0"/>
              <a:t>for </a:t>
            </a:r>
            <a:r>
              <a:rPr lang="hr-HR" dirty="0" err="1"/>
              <a:t>player</a:t>
            </a:r>
            <a:r>
              <a:rPr lang="hr-HR" dirty="0"/>
              <a:t> </a:t>
            </a:r>
            <a:r>
              <a:rPr lang="hr-HR" dirty="0" err="1"/>
              <a:t>comparison</a:t>
            </a:r>
            <a:endParaRPr lang="hr-HR" dirty="0"/>
          </a:p>
          <a:p>
            <a:pPr lvl="1"/>
            <a:r>
              <a:rPr lang="hr-HR" dirty="0" err="1"/>
              <a:t>Incorporating</a:t>
            </a:r>
            <a:r>
              <a:rPr lang="hr-HR" dirty="0"/>
              <a:t> </a:t>
            </a:r>
            <a:r>
              <a:rPr lang="hr-HR" b="1" dirty="0"/>
              <a:t>more </a:t>
            </a:r>
            <a:r>
              <a:rPr lang="hr-HR" b="1" dirty="0" err="1"/>
              <a:t>advanced</a:t>
            </a:r>
            <a:r>
              <a:rPr lang="hr-HR" b="1" dirty="0"/>
              <a:t> </a:t>
            </a:r>
            <a:r>
              <a:rPr lang="hr-HR" b="1" dirty="0" err="1"/>
              <a:t>metrics</a:t>
            </a:r>
            <a:endParaRPr lang="hr-HR" b="1" dirty="0"/>
          </a:p>
        </p:txBody>
      </p:sp>
    </p:spTree>
    <p:extLst>
      <p:ext uri="{BB962C8B-B14F-4D97-AF65-F5344CB8AC3E}">
        <p14:creationId xmlns:p14="http://schemas.microsoft.com/office/powerpoint/2010/main" val="2614005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9AA2009-F252-9644-5B99-C4116DAD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Percentage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Work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D3B61DE-FA3B-BEC4-C352-BDB759A10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Luka Zuanović (130275) =&gt; 60%</a:t>
            </a:r>
          </a:p>
          <a:p>
            <a:r>
              <a:rPr lang="hr-HR" dirty="0"/>
              <a:t>Marko Pongrac (130288) =&gt; 40%</a:t>
            </a:r>
          </a:p>
        </p:txBody>
      </p:sp>
    </p:spTree>
    <p:extLst>
      <p:ext uri="{BB962C8B-B14F-4D97-AF65-F5344CB8AC3E}">
        <p14:creationId xmlns:p14="http://schemas.microsoft.com/office/powerpoint/2010/main" val="4239029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453</Words>
  <Application>Microsoft Office PowerPoint</Application>
  <PresentationFormat>Široki zaslon</PresentationFormat>
  <Paragraphs>76</Paragraphs>
  <Slides>13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sustava Office</vt:lpstr>
      <vt:lpstr>NbetA</vt:lpstr>
      <vt:lpstr>🏀  Our Vision</vt:lpstr>
      <vt:lpstr>NBA Dataset (2005 – 2022)</vt:lpstr>
      <vt:lpstr>Tech Stack</vt:lpstr>
      <vt:lpstr>User Personalization</vt:lpstr>
      <vt:lpstr>Main Dashboard</vt:lpstr>
      <vt:lpstr>Graph 1: Team Matchup Trends</vt:lpstr>
      <vt:lpstr>Graph 2: Player Comparison</vt:lpstr>
      <vt:lpstr>Graph 3: Clutch Factor</vt:lpstr>
      <vt:lpstr>Use Cases</vt:lpstr>
      <vt:lpstr>Video Demo</vt:lpstr>
      <vt:lpstr>Conclusion</vt:lpstr>
      <vt:lpstr>Percentage of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Luka Zuanović</cp:lastModifiedBy>
  <cp:revision>60</cp:revision>
  <dcterms:created xsi:type="dcterms:W3CDTF">2025-10-19T17:17:09Z</dcterms:created>
  <dcterms:modified xsi:type="dcterms:W3CDTF">2025-11-24T18:01:24Z</dcterms:modified>
</cp:coreProperties>
</file>